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6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177C78"/>
          </a:solidFill>
          <a:ln w="12700">
            <a:solidFill>
              <a:srgbClr val="177C7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720000">
            <a:off x="8046720" y="914400"/>
            <a:ext cx="3886200" cy="3886200"/>
          </a:xfrm>
          <a:prstGeom prst="arc">
            <a:avLst/>
          </a:prstGeom>
          <a:solidFill>
            <a:srgbClr val="173647">
              <a:alpha val="0"/>
            </a:srgbClr>
          </a:solidFill>
          <a:ln w="38100">
            <a:solidFill>
              <a:srgbClr val="3F7E83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4200000">
            <a:off x="8778240" y="1737360"/>
            <a:ext cx="2560320" cy="2560320"/>
          </a:xfrm>
          <a:prstGeom prst="arc">
            <a:avLst/>
          </a:prstGeom>
          <a:solidFill>
            <a:srgbClr val="173647">
              <a:alpha val="0"/>
            </a:srgbClr>
          </a:solidFill>
          <a:ln w="38100">
            <a:solidFill>
              <a:srgbClr val="71B9A7">
                <a:alpha val="7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950976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spc="230" kern="0" dirty="0">
                <a:solidFill>
                  <a:srgbClr val="8FD3C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PROJEKT I DATA SCIENCE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13232" y="1508760"/>
            <a:ext cx="9144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Kan vi identifiera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APS-fel med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maskininlärning?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758952" y="4828032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D6E6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Kostnadskänslig klassificering av APS-fel i Scania-lastbilar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49808" y="5678424"/>
            <a:ext cx="10332720" cy="0"/>
          </a:xfrm>
          <a:prstGeom prst="line">
            <a:avLst/>
          </a:prstGeom>
          <a:noFill/>
          <a:ln w="12700">
            <a:solidFill>
              <a:srgbClr val="50717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58952" y="5980176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EFF6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Yunus Capar  ·  Elza Capar  ·  Tim Rydén  ·  Eliesa Dudus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77C78"/>
          </a:solidFill>
          <a:ln w="12700">
            <a:solidFill>
              <a:srgbClr val="177C7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31089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10" kern="0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 · ANVÄNDARE · MÅL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85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Färre missade APS-fel – utan onödiga kontroller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57784" y="1307592"/>
            <a:ext cx="109728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Vår fråga: kan fordonsdata hjälpa underhållsansvariga att prioritera rätt fordon?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594592" cy="0"/>
          </a:xfrm>
          <a:prstGeom prst="line">
            <a:avLst/>
          </a:prstGeom>
          <a:noFill/>
          <a:ln w="12700">
            <a:solidFill>
              <a:srgbClr val="DDE8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01384"/>
            <a:ext cx="7315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SCANIA APS  ·  PROJEKT I DATA SCIENCE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0789920" y="6473952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/ 08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66928" y="1929384"/>
            <a:ext cx="5349240" cy="3538728"/>
          </a:xfrm>
          <a:prstGeom prst="roundRect">
            <a:avLst>
              <a:gd name="adj" fmla="val 3101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22768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PROBLEMET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59536" y="2770632"/>
            <a:ext cx="473659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Missade fel är</a:t>
            </a:r>
            <a:endParaRPr lang="en-US" sz="3100" dirty="0"/>
          </a:p>
          <a:p>
            <a:pPr indent="0" marL="0">
              <a:buNone/>
            </a:pPr>
            <a:r>
              <a:rPr lang="en-US" sz="310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mycket dyrare</a:t>
            </a:r>
            <a:endParaRPr lang="en-US" sz="3100" dirty="0"/>
          </a:p>
          <a:p>
            <a:pPr indent="0" marL="0">
              <a:buNone/>
            </a:pPr>
            <a:r>
              <a:rPr lang="en-US" sz="310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än falsklarm.</a:t>
            </a:r>
            <a:endParaRPr lang="en-US" sz="3100" dirty="0"/>
          </a:p>
        </p:txBody>
      </p:sp>
      <p:sp>
        <p:nvSpPr>
          <p:cNvPr id="12" name="Text 10"/>
          <p:cNvSpPr/>
          <p:nvPr/>
        </p:nvSpPr>
        <p:spPr>
          <a:xfrm>
            <a:off x="868680" y="4782312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varning ska ge stöd för kontroll – inte ersätta underhållsbeslut.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44768" y="1929384"/>
            <a:ext cx="5477256" cy="3538728"/>
          </a:xfrm>
          <a:prstGeom prst="roundRect">
            <a:avLst>
              <a:gd name="adj" fmla="val 3101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227685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TÄNKT ANVÄNDARE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28232" y="2848356"/>
            <a:ext cx="82296" cy="82296"/>
          </a:xfrm>
          <a:prstGeom prst="ellipse">
            <a:avLst/>
          </a:prstGeom>
          <a:solidFill>
            <a:srgbClr val="177C78"/>
          </a:solidFill>
          <a:ln w="12700">
            <a:solidFill>
              <a:srgbClr val="177C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38544" y="2752344"/>
            <a:ext cx="436168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Underhållsansvarig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428232" y="3506724"/>
            <a:ext cx="82296" cy="82296"/>
          </a:xfrm>
          <a:prstGeom prst="ellipse">
            <a:avLst/>
          </a:prstGeom>
          <a:solidFill>
            <a:srgbClr val="177C78"/>
          </a:solidFill>
          <a:ln w="12700">
            <a:solidFill>
              <a:srgbClr val="177C7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38544" y="3410712"/>
            <a:ext cx="436168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Verkstadsplanerare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428232" y="4165092"/>
            <a:ext cx="82296" cy="82296"/>
          </a:xfrm>
          <a:prstGeom prst="ellipse">
            <a:avLst/>
          </a:prstGeom>
          <a:solidFill>
            <a:srgbClr val="177C78"/>
          </a:solidFill>
          <a:ln w="12700">
            <a:solidFill>
              <a:srgbClr val="177C7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38544" y="4069080"/>
            <a:ext cx="436168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Fleet / reliability manager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428232" y="4937760"/>
            <a:ext cx="4800600" cy="329184"/>
          </a:xfrm>
          <a:prstGeom prst="roundRect">
            <a:avLst>
              <a:gd name="adj" fmla="val 22222"/>
            </a:avLst>
          </a:prstGeom>
          <a:solidFill>
            <a:srgbClr val="E7F3F0"/>
          </a:solidFill>
          <a:ln w="12700">
            <a:solidFill>
              <a:srgbClr val="E7F3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37960" y="5001768"/>
            <a:ext cx="4572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Beslutsstöd – inte automatiska reparationsbeslut</a:t>
            </a:r>
            <a:endParaRPr lang="en-US" sz="114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77C78"/>
          </a:solidFill>
          <a:ln w="12700">
            <a:solidFill>
              <a:srgbClr val="177C7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31089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10" kern="0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· DATAKVALITET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85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60 000 träningsfall – bara 1 000 APS-fel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57784" y="1307592"/>
            <a:ext cx="109728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170 anonymiserade indatafält + målvariabeln class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594592" cy="0"/>
          </a:xfrm>
          <a:prstGeom prst="line">
            <a:avLst/>
          </a:prstGeom>
          <a:noFill/>
          <a:ln w="12700">
            <a:solidFill>
              <a:srgbClr val="DDE8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01384"/>
            <a:ext cx="7315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SCANIA APS  ·  PROJEKT I DATA SCIENCE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0789920" y="6473952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/ 08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76072" y="1856232"/>
            <a:ext cx="2423160" cy="1216152"/>
          </a:xfrm>
          <a:prstGeom prst="roundRect">
            <a:avLst>
              <a:gd name="adj" fmla="val 9023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2002536"/>
            <a:ext cx="209397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60 000</a:t>
            </a:r>
            <a:endParaRPr lang="en-US" sz="2900" dirty="0"/>
          </a:p>
        </p:txBody>
      </p:sp>
      <p:sp>
        <p:nvSpPr>
          <p:cNvPr id="11" name="Text 9"/>
          <p:cNvSpPr/>
          <p:nvPr/>
        </p:nvSpPr>
        <p:spPr>
          <a:xfrm>
            <a:off x="749808" y="263347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träningsobservationer</a:t>
            </a:r>
            <a:endParaRPr lang="en-US" sz="1230" dirty="0"/>
          </a:p>
        </p:txBody>
      </p:sp>
      <p:sp>
        <p:nvSpPr>
          <p:cNvPr id="12" name="Shape 10"/>
          <p:cNvSpPr/>
          <p:nvPr/>
        </p:nvSpPr>
        <p:spPr>
          <a:xfrm>
            <a:off x="3191256" y="1856232"/>
            <a:ext cx="2423160" cy="1216152"/>
          </a:xfrm>
          <a:prstGeom prst="roundRect">
            <a:avLst>
              <a:gd name="adj" fmla="val 9023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64992" y="2002536"/>
            <a:ext cx="209397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16 000</a:t>
            </a:r>
            <a:endParaRPr lang="en-US" sz="2900" dirty="0"/>
          </a:p>
        </p:txBody>
      </p:sp>
      <p:sp>
        <p:nvSpPr>
          <p:cNvPr id="14" name="Text 12"/>
          <p:cNvSpPr/>
          <p:nvPr/>
        </p:nvSpPr>
        <p:spPr>
          <a:xfrm>
            <a:off x="3364992" y="263347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separata testobservationer</a:t>
            </a:r>
            <a:endParaRPr lang="en-US" sz="1230" dirty="0"/>
          </a:p>
        </p:txBody>
      </p:sp>
      <p:sp>
        <p:nvSpPr>
          <p:cNvPr id="15" name="Shape 13"/>
          <p:cNvSpPr/>
          <p:nvPr/>
        </p:nvSpPr>
        <p:spPr>
          <a:xfrm>
            <a:off x="5797296" y="1856232"/>
            <a:ext cx="2423160" cy="1216152"/>
          </a:xfrm>
          <a:prstGeom prst="roundRect">
            <a:avLst>
              <a:gd name="adj" fmla="val 9023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71032" y="2002536"/>
            <a:ext cx="209397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8,33 %</a:t>
            </a:r>
            <a:endParaRPr lang="en-US" sz="2900" dirty="0"/>
          </a:p>
        </p:txBody>
      </p:sp>
      <p:sp>
        <p:nvSpPr>
          <p:cNvPr id="17" name="Text 15"/>
          <p:cNvSpPr/>
          <p:nvPr/>
        </p:nvSpPr>
        <p:spPr>
          <a:xfrm>
            <a:off x="5971032" y="263347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saknade feature-värden</a:t>
            </a:r>
            <a:endParaRPr lang="en-US" sz="1230" dirty="0"/>
          </a:p>
        </p:txBody>
      </p:sp>
      <p:sp>
        <p:nvSpPr>
          <p:cNvPr id="18" name="Shape 16"/>
          <p:cNvSpPr/>
          <p:nvPr/>
        </p:nvSpPr>
        <p:spPr>
          <a:xfrm>
            <a:off x="8403336" y="1856232"/>
            <a:ext cx="3182112" cy="1216152"/>
          </a:xfrm>
          <a:prstGeom prst="roundRect">
            <a:avLst>
              <a:gd name="adj" fmla="val 9023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7072" y="2002536"/>
            <a:ext cx="28529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2900" dirty="0"/>
          </a:p>
        </p:txBody>
      </p:sp>
      <p:sp>
        <p:nvSpPr>
          <p:cNvPr id="20" name="Text 18"/>
          <p:cNvSpPr/>
          <p:nvPr/>
        </p:nvSpPr>
        <p:spPr>
          <a:xfrm>
            <a:off x="8577072" y="2633472"/>
            <a:ext cx="2862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variabler med ≥75 % saknade</a:t>
            </a:r>
            <a:endParaRPr lang="en-US" sz="1230" dirty="0"/>
          </a:p>
        </p:txBody>
      </p:sp>
      <p:sp>
        <p:nvSpPr>
          <p:cNvPr id="21" name="Shape 19"/>
          <p:cNvSpPr/>
          <p:nvPr/>
        </p:nvSpPr>
        <p:spPr>
          <a:xfrm>
            <a:off x="576072" y="3319272"/>
            <a:ext cx="6437376" cy="2441448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0392" y="3575304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KRAFTIG KLASSOBALANS I TRÄNINGSDATAN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59536" y="401421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Inget APS-fel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859536" y="4297680"/>
            <a:ext cx="4846320" cy="283464"/>
          </a:xfrm>
          <a:prstGeom prst="roundRect">
            <a:avLst>
              <a:gd name="adj" fmla="val 16129"/>
            </a:avLst>
          </a:prstGeom>
          <a:solidFill>
            <a:srgbClr val="EDF2F4"/>
          </a:solidFill>
          <a:ln w="12700">
            <a:solidFill>
              <a:srgbClr val="EDF2F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59536" y="4297680"/>
            <a:ext cx="4765548" cy="283464"/>
          </a:xfrm>
          <a:prstGeom prst="roundRect">
            <a:avLst>
              <a:gd name="adj" fmla="val 16129"/>
            </a:avLst>
          </a:prstGeom>
          <a:solidFill>
            <a:srgbClr val="173647"/>
          </a:solidFill>
          <a:ln w="12700">
            <a:solidFill>
              <a:srgbClr val="17364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43016" y="4242816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59 000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59536" y="47548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APS-fel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859536" y="5038344"/>
            <a:ext cx="4846320" cy="283464"/>
          </a:xfrm>
          <a:prstGeom prst="roundRect">
            <a:avLst>
              <a:gd name="adj" fmla="val 16129"/>
            </a:avLst>
          </a:prstGeom>
          <a:solidFill>
            <a:srgbClr val="EDF2F4"/>
          </a:solidFill>
          <a:ln w="12700">
            <a:solidFill>
              <a:srgbClr val="EDF2F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59536" y="5038344"/>
            <a:ext cx="80772" cy="283464"/>
          </a:xfrm>
          <a:prstGeom prst="roundRect">
            <a:avLst>
              <a:gd name="adj" fmla="val 56604"/>
            </a:avLst>
          </a:prstGeom>
          <a:solidFill>
            <a:srgbClr val="E3A166"/>
          </a:solidFill>
          <a:ln w="12700">
            <a:solidFill>
              <a:srgbClr val="E3A1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43016" y="498348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1 000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7223760" y="3319272"/>
            <a:ext cx="4361688" cy="2441448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98080" y="3575304"/>
            <a:ext cx="3767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SÅ HANTERADES DATAN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507224" y="4119372"/>
            <a:ext cx="82296" cy="82296"/>
          </a:xfrm>
          <a:prstGeom prst="ellipse">
            <a:avLst/>
          </a:prstGeom>
          <a:solidFill>
            <a:srgbClr val="177C78"/>
          </a:solidFill>
          <a:ln w="12700">
            <a:solidFill>
              <a:srgbClr val="177C7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717536" y="4023360"/>
            <a:ext cx="3557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40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Medianimputering + indikatorer</a:t>
            </a:r>
            <a:endParaRPr lang="en-US" sz="1440" dirty="0"/>
          </a:p>
        </p:txBody>
      </p:sp>
      <p:sp>
        <p:nvSpPr>
          <p:cNvPr id="35" name="Shape 33"/>
          <p:cNvSpPr/>
          <p:nvPr/>
        </p:nvSpPr>
        <p:spPr>
          <a:xfrm>
            <a:off x="7507224" y="4631436"/>
            <a:ext cx="82296" cy="82296"/>
          </a:xfrm>
          <a:prstGeom prst="ellipse">
            <a:avLst/>
          </a:prstGeom>
          <a:solidFill>
            <a:srgbClr val="177C78"/>
          </a:solidFill>
          <a:ln w="12700">
            <a:solidFill>
              <a:srgbClr val="177C7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717536" y="4535424"/>
            <a:ext cx="3557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40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Konstant kolumn cd_000 bort</a:t>
            </a:r>
            <a:endParaRPr lang="en-US" sz="1440" dirty="0"/>
          </a:p>
        </p:txBody>
      </p:sp>
      <p:sp>
        <p:nvSpPr>
          <p:cNvPr id="37" name="Shape 35"/>
          <p:cNvSpPr/>
          <p:nvPr/>
        </p:nvSpPr>
        <p:spPr>
          <a:xfrm>
            <a:off x="7507224" y="5143500"/>
            <a:ext cx="82296" cy="82296"/>
          </a:xfrm>
          <a:prstGeom prst="ellipse">
            <a:avLst/>
          </a:prstGeom>
          <a:solidFill>
            <a:srgbClr val="177C78"/>
          </a:solidFill>
          <a:ln w="12700">
            <a:solidFill>
              <a:srgbClr val="177C7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717536" y="5047488"/>
            <a:ext cx="3557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40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 testset för slutkontroll</a:t>
            </a:r>
            <a:endParaRPr lang="en-US" sz="14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77C78"/>
          </a:solidFill>
          <a:ln w="12700">
            <a:solidFill>
              <a:srgbClr val="177C7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31089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10" kern="0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EDA · BASELINE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85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Logistic Regression som utgångspunkt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57784" y="1307592"/>
            <a:ext cx="109728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Intern validering: 12 000 observationer · tröskel 0,50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594592" cy="0"/>
          </a:xfrm>
          <a:prstGeom prst="line">
            <a:avLst/>
          </a:prstGeom>
          <a:noFill/>
          <a:ln w="12700">
            <a:solidFill>
              <a:srgbClr val="DDE8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01384"/>
            <a:ext cx="7315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SCANIA APS  ·  PROJEKT I DATA SCIENCE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0789920" y="6473952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/ 08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66928" y="1901952"/>
            <a:ext cx="5513832" cy="3630168"/>
          </a:xfrm>
          <a:prstGeom prst="roundRect">
            <a:avLst>
              <a:gd name="adj" fmla="val 3023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194560"/>
            <a:ext cx="4919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FÖRBEHANDLING → MODELL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2688336"/>
            <a:ext cx="4709160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88136" y="2779776"/>
            <a:ext cx="43891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 bort cd_000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4400" y="3264408"/>
            <a:ext cx="4709160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88136" y="3355848"/>
            <a:ext cx="43891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Median + missing indicators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14400" y="3840480"/>
            <a:ext cx="4709160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88136" y="3931920"/>
            <a:ext cx="43891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StandardScaler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914400" y="4416552"/>
            <a:ext cx="4709160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88136" y="4507992"/>
            <a:ext cx="43891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Balanced Logistic Regression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309360" y="1901952"/>
            <a:ext cx="5294376" cy="3630168"/>
          </a:xfrm>
          <a:prstGeom prst="roundRect">
            <a:avLst>
              <a:gd name="adj" fmla="val 3023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1968" y="2313432"/>
            <a:ext cx="2221992" cy="1216152"/>
          </a:xfrm>
          <a:prstGeom prst="roundRect">
            <a:avLst>
              <a:gd name="adj" fmla="val 9023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75704" y="2459736"/>
            <a:ext cx="189280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92 %</a:t>
            </a:r>
            <a:endParaRPr lang="en-US" sz="2900" dirty="0"/>
          </a:p>
        </p:txBody>
      </p:sp>
      <p:sp>
        <p:nvSpPr>
          <p:cNvPr id="22" name="Text 20"/>
          <p:cNvSpPr/>
          <p:nvPr/>
        </p:nvSpPr>
        <p:spPr>
          <a:xfrm>
            <a:off x="6775704" y="3090672"/>
            <a:ext cx="1901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recall på intern validering</a:t>
            </a:r>
            <a:endParaRPr lang="en-US" sz="1230" dirty="0"/>
          </a:p>
        </p:txBody>
      </p:sp>
      <p:sp>
        <p:nvSpPr>
          <p:cNvPr id="23" name="Shape 21"/>
          <p:cNvSpPr/>
          <p:nvPr/>
        </p:nvSpPr>
        <p:spPr>
          <a:xfrm>
            <a:off x="8979408" y="2313432"/>
            <a:ext cx="2267712" cy="1216152"/>
          </a:xfrm>
          <a:prstGeom prst="roundRect">
            <a:avLst>
              <a:gd name="adj" fmla="val 9023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53144" y="2459736"/>
            <a:ext cx="19385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2900" dirty="0"/>
          </a:p>
        </p:txBody>
      </p:sp>
      <p:sp>
        <p:nvSpPr>
          <p:cNvPr id="25" name="Text 23"/>
          <p:cNvSpPr/>
          <p:nvPr/>
        </p:nvSpPr>
        <p:spPr>
          <a:xfrm>
            <a:off x="9153144" y="3090672"/>
            <a:ext cx="1947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missade APS-fel (FN)</a:t>
            </a:r>
            <a:endParaRPr lang="en-US" sz="1230" dirty="0"/>
          </a:p>
        </p:txBody>
      </p:sp>
      <p:sp>
        <p:nvSpPr>
          <p:cNvPr id="26" name="Text 24"/>
          <p:cNvSpPr/>
          <p:nvPr/>
        </p:nvSpPr>
        <p:spPr>
          <a:xfrm>
            <a:off x="6647688" y="4023360"/>
            <a:ext cx="39319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11 640</a:t>
            </a:r>
            <a:endParaRPr lang="en-US" sz="3800" dirty="0"/>
          </a:p>
        </p:txBody>
      </p:sp>
      <p:sp>
        <p:nvSpPr>
          <p:cNvPr id="27" name="Text 25"/>
          <p:cNvSpPr/>
          <p:nvPr/>
        </p:nvSpPr>
        <p:spPr>
          <a:xfrm>
            <a:off x="6665976" y="476402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felkostnad · FP 364 / FN 16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77240" y="5815584"/>
            <a:ext cx="99669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i="1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Dummy: 98,33 % accuracy men 0 % recall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77C78"/>
          </a:solidFill>
          <a:ln w="12700">
            <a:solidFill>
              <a:srgbClr val="177C7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31089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10" kern="0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 · FÖRBÄTTRINGAR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85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Modellen valdes med kostnaden som mål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57784" y="1307592"/>
            <a:ext cx="109728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Inställningar och tröskel valdes på kalibreringsdata – inte på officiellt testset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594592" cy="0"/>
          </a:xfrm>
          <a:prstGeom prst="line">
            <a:avLst/>
          </a:prstGeom>
          <a:noFill/>
          <a:ln w="12700">
            <a:solidFill>
              <a:srgbClr val="DDE8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01384"/>
            <a:ext cx="7315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SCANIA APS  ·  PROJEKT I DATA SCIENCE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0789920" y="6473952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/ 08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66928" y="1892808"/>
            <a:ext cx="5193792" cy="3621024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218541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FYRA VARIANTER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968" y="2743200"/>
            <a:ext cx="3364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Balanced · depth 14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160520" y="2743200"/>
            <a:ext cx="12161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9 410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86968" y="3300984"/>
            <a:ext cx="3364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Balanced · depth 20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160520" y="3300984"/>
            <a:ext cx="12161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9 040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86968" y="3858768"/>
            <a:ext cx="3364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Utan klassvikter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160520" y="3858768"/>
            <a:ext cx="12161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8 590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86968" y="4416552"/>
            <a:ext cx="3364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Klassvikt 15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160520" y="4416552"/>
            <a:ext cx="12161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8 280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96112" y="5157216"/>
            <a:ext cx="4434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Lägst kostnad under kalibrering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007608" y="1892808"/>
            <a:ext cx="5586984" cy="3621024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18504" y="219456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VALD RANDOM FOREST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309360" y="2697480"/>
            <a:ext cx="2231136" cy="1216152"/>
          </a:xfrm>
          <a:prstGeom prst="roundRect">
            <a:avLst>
              <a:gd name="adj" fmla="val 9023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83096" y="2843784"/>
            <a:ext cx="19019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110</a:t>
            </a:r>
            <a:endParaRPr lang="en-US" sz="2900" dirty="0"/>
          </a:p>
        </p:txBody>
      </p:sp>
      <p:sp>
        <p:nvSpPr>
          <p:cNvPr id="24" name="Text 22"/>
          <p:cNvSpPr/>
          <p:nvPr/>
        </p:nvSpPr>
        <p:spPr>
          <a:xfrm>
            <a:off x="6483096" y="3474720"/>
            <a:ext cx="1911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beslutsträd</a:t>
            </a:r>
            <a:endParaRPr lang="en-US" sz="1230" dirty="0"/>
          </a:p>
        </p:txBody>
      </p:sp>
      <p:sp>
        <p:nvSpPr>
          <p:cNvPr id="25" name="Shape 23"/>
          <p:cNvSpPr/>
          <p:nvPr/>
        </p:nvSpPr>
        <p:spPr>
          <a:xfrm>
            <a:off x="8714232" y="2697480"/>
            <a:ext cx="2505456" cy="1216152"/>
          </a:xfrm>
          <a:prstGeom prst="roundRect">
            <a:avLst>
              <a:gd name="adj" fmla="val 9023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87968" y="2843784"/>
            <a:ext cx="217627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</a:t>
            </a:r>
            <a:endParaRPr lang="en-US" sz="2900" dirty="0"/>
          </a:p>
        </p:txBody>
      </p:sp>
      <p:sp>
        <p:nvSpPr>
          <p:cNvPr id="27" name="Text 25"/>
          <p:cNvSpPr/>
          <p:nvPr/>
        </p:nvSpPr>
        <p:spPr>
          <a:xfrm>
            <a:off x="8887968" y="3474720"/>
            <a:ext cx="2185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maximalt träddjup</a:t>
            </a:r>
            <a:endParaRPr lang="en-US" sz="1230" dirty="0"/>
          </a:p>
        </p:txBody>
      </p:sp>
      <p:sp>
        <p:nvSpPr>
          <p:cNvPr id="28" name="Text 26"/>
          <p:cNvSpPr/>
          <p:nvPr/>
        </p:nvSpPr>
        <p:spPr>
          <a:xfrm>
            <a:off x="6355080" y="4151376"/>
            <a:ext cx="4837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Klassvikter: 0 → 1    |    1 → 15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6345936" y="4709160"/>
            <a:ext cx="4919472" cy="457200"/>
          </a:xfrm>
          <a:prstGeom prst="roundRect">
            <a:avLst>
              <a:gd name="adj" fmla="val 16000"/>
            </a:avLst>
          </a:prstGeom>
          <a:solidFill>
            <a:srgbClr val="E7F3F0"/>
          </a:solidFill>
          <a:ln w="12700">
            <a:solidFill>
              <a:srgbClr val="E7F3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28816" y="4791456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Fastställd tröskel: 0,105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77C78"/>
          </a:solidFill>
          <a:ln w="12700">
            <a:solidFill>
              <a:srgbClr val="177C7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31089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10" kern="0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INTERN VALIDERING · 12 000 FALL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85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 gav lägst intern felkostnad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57784" y="1307592"/>
            <a:ext cx="109728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Modellvalet gjordes före det officiella sluttestet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594592" cy="0"/>
          </a:xfrm>
          <a:prstGeom prst="line">
            <a:avLst/>
          </a:prstGeom>
          <a:noFill/>
          <a:ln w="12700">
            <a:solidFill>
              <a:srgbClr val="DDE8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01384"/>
            <a:ext cx="7315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SCANIA APS  ·  PROJEKT I DATA SCIENCE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0789920" y="6473952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/ 08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4360" y="1892808"/>
            <a:ext cx="6858000" cy="3593592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05256" y="2231136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FELKOSTNAD – LÄGRE ÄR BÄTTRE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05256" y="26700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Logistic Regression 0,50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05256" y="2953512"/>
            <a:ext cx="4882896" cy="283464"/>
          </a:xfrm>
          <a:prstGeom prst="roundRect">
            <a:avLst>
              <a:gd name="adj" fmla="val 16129"/>
            </a:avLst>
          </a:prstGeom>
          <a:solidFill>
            <a:srgbClr val="EDF2F4"/>
          </a:solidFill>
          <a:ln w="12700">
            <a:solidFill>
              <a:srgbClr val="EDF2F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05256" y="2953512"/>
            <a:ext cx="4736409" cy="283464"/>
          </a:xfrm>
          <a:prstGeom prst="roundRect">
            <a:avLst>
              <a:gd name="adj" fmla="val 16129"/>
            </a:avLst>
          </a:prstGeom>
          <a:solidFill>
            <a:srgbClr val="173647"/>
          </a:solidFill>
          <a:ln w="12700">
            <a:solidFill>
              <a:srgbClr val="17364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25312" y="289864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11 640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05256" y="363931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Logistic Regression 0,460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905256" y="3922776"/>
            <a:ext cx="4882896" cy="283464"/>
          </a:xfrm>
          <a:prstGeom prst="roundRect">
            <a:avLst>
              <a:gd name="adj" fmla="val 16129"/>
            </a:avLst>
          </a:prstGeom>
          <a:solidFill>
            <a:srgbClr val="EDF2F4"/>
          </a:solidFill>
          <a:ln w="12700">
            <a:solidFill>
              <a:srgbClr val="EDF2F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5256" y="3922776"/>
            <a:ext cx="4813722" cy="283464"/>
          </a:xfrm>
          <a:prstGeom prst="roundRect">
            <a:avLst>
              <a:gd name="adj" fmla="val 16129"/>
            </a:avLst>
          </a:prstGeom>
          <a:solidFill>
            <a:srgbClr val="99ADB4"/>
          </a:solidFill>
          <a:ln w="12700">
            <a:solidFill>
              <a:srgbClr val="99ADB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25312" y="386791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11 830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05256" y="46085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 0,105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905256" y="4892040"/>
            <a:ext cx="4882896" cy="283464"/>
          </a:xfrm>
          <a:prstGeom prst="roundRect">
            <a:avLst>
              <a:gd name="adj" fmla="val 16129"/>
            </a:avLst>
          </a:prstGeom>
          <a:solidFill>
            <a:srgbClr val="EDF2F4"/>
          </a:solidFill>
          <a:ln w="12700">
            <a:solidFill>
              <a:srgbClr val="EDF2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05256" y="4892040"/>
            <a:ext cx="2710007" cy="283464"/>
          </a:xfrm>
          <a:prstGeom prst="roundRect">
            <a:avLst>
              <a:gd name="adj" fmla="val 16129"/>
            </a:avLst>
          </a:prstGeom>
          <a:solidFill>
            <a:srgbClr val="177C78"/>
          </a:solidFill>
          <a:ln w="12700">
            <a:solidFill>
              <a:srgbClr val="177C7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25312" y="4837176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6 660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708392" y="1892808"/>
            <a:ext cx="3867912" cy="3593592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982712" y="2386584"/>
            <a:ext cx="3319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42,8 %</a:t>
            </a:r>
            <a:endParaRPr lang="en-US" sz="3800" dirty="0"/>
          </a:p>
        </p:txBody>
      </p:sp>
      <p:sp>
        <p:nvSpPr>
          <p:cNvPr id="25" name="Text 23"/>
          <p:cNvSpPr/>
          <p:nvPr/>
        </p:nvSpPr>
        <p:spPr>
          <a:xfrm>
            <a:off x="8010144" y="3264408"/>
            <a:ext cx="31912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lägre felkostnad jämfört med LR 0,50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7991856" y="4151376"/>
            <a:ext cx="3035808" cy="0"/>
          </a:xfrm>
          <a:prstGeom prst="line">
            <a:avLst/>
          </a:prstGeom>
          <a:noFill/>
          <a:ln w="12700">
            <a:solidFill>
              <a:srgbClr val="DDE8E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10144" y="4425696"/>
            <a:ext cx="31912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Forest: 6 missade fel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Logistic Regression: 16 missade fel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77240" y="5843016"/>
            <a:ext cx="10698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OBS: intern validering – inte officiella testresultat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77C78"/>
          </a:solidFill>
          <a:ln w="12700">
            <a:solidFill>
              <a:srgbClr val="177C7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31089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10" kern="0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OFFICIELLT TEST · 16 000 FALL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85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 vann på ny testdata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57784" y="1307592"/>
            <a:ext cx="109728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375 verkliga APS-fel · modellerna tränades på 60 000 träningsfall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594592" cy="0"/>
          </a:xfrm>
          <a:prstGeom prst="line">
            <a:avLst/>
          </a:prstGeom>
          <a:noFill/>
          <a:ln w="12700">
            <a:solidFill>
              <a:srgbClr val="DDE8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01384"/>
            <a:ext cx="7315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SCANIA APS  ·  PROJEKT I DATA SCIENCE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0789920" y="6473952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/ 08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66928" y="1865376"/>
            <a:ext cx="3584448" cy="1216152"/>
          </a:xfrm>
          <a:prstGeom prst="roundRect">
            <a:avLst>
              <a:gd name="adj" fmla="val 9023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0664" y="2011680"/>
            <a:ext cx="325526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−27,6 %</a:t>
            </a:r>
            <a:endParaRPr lang="en-US" sz="2900" dirty="0"/>
          </a:p>
        </p:txBody>
      </p:sp>
      <p:sp>
        <p:nvSpPr>
          <p:cNvPr id="11" name="Text 9"/>
          <p:cNvSpPr/>
          <p:nvPr/>
        </p:nvSpPr>
        <p:spPr>
          <a:xfrm>
            <a:off x="740664" y="2642616"/>
            <a:ext cx="3264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felkostnad mot Logistic Regression</a:t>
            </a:r>
            <a:endParaRPr lang="en-US" sz="1230" dirty="0"/>
          </a:p>
        </p:txBody>
      </p:sp>
      <p:sp>
        <p:nvSpPr>
          <p:cNvPr id="12" name="Shape 10"/>
          <p:cNvSpPr/>
          <p:nvPr/>
        </p:nvSpPr>
        <p:spPr>
          <a:xfrm>
            <a:off x="4370832" y="1865376"/>
            <a:ext cx="3593592" cy="1216152"/>
          </a:xfrm>
          <a:prstGeom prst="roundRect">
            <a:avLst>
              <a:gd name="adj" fmla="val 9023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44568" y="2011680"/>
            <a:ext cx="326440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360 / 375</a:t>
            </a:r>
            <a:endParaRPr lang="en-US" sz="2900" dirty="0"/>
          </a:p>
        </p:txBody>
      </p:sp>
      <p:sp>
        <p:nvSpPr>
          <p:cNvPr id="14" name="Text 12"/>
          <p:cNvSpPr/>
          <p:nvPr/>
        </p:nvSpPr>
        <p:spPr>
          <a:xfrm>
            <a:off x="4544568" y="2642616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APS-fel hittade med Random Forest</a:t>
            </a:r>
            <a:endParaRPr lang="en-US" sz="1230" dirty="0"/>
          </a:p>
        </p:txBody>
      </p:sp>
      <p:sp>
        <p:nvSpPr>
          <p:cNvPr id="15" name="Shape 13"/>
          <p:cNvSpPr/>
          <p:nvPr/>
        </p:nvSpPr>
        <p:spPr>
          <a:xfrm>
            <a:off x="8174736" y="1865376"/>
            <a:ext cx="3401568" cy="1216152"/>
          </a:xfrm>
          <a:prstGeom prst="roundRect">
            <a:avLst>
              <a:gd name="adj" fmla="val 9023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48472" y="2011680"/>
            <a:ext cx="30723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96,0 %</a:t>
            </a:r>
            <a:endParaRPr lang="en-US" sz="2900" dirty="0"/>
          </a:p>
        </p:txBody>
      </p:sp>
      <p:sp>
        <p:nvSpPr>
          <p:cNvPr id="17" name="Text 15"/>
          <p:cNvSpPr/>
          <p:nvPr/>
        </p:nvSpPr>
        <p:spPr>
          <a:xfrm>
            <a:off x="8348472" y="2642616"/>
            <a:ext cx="3081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recall för Random Forest</a:t>
            </a:r>
            <a:endParaRPr lang="en-US" sz="1230" dirty="0"/>
          </a:p>
        </p:txBody>
      </p:sp>
      <p:sp>
        <p:nvSpPr>
          <p:cNvPr id="18" name="Shape 16"/>
          <p:cNvSpPr/>
          <p:nvPr/>
        </p:nvSpPr>
        <p:spPr>
          <a:xfrm>
            <a:off x="585216" y="3310128"/>
            <a:ext cx="56235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593592"/>
            <a:ext cx="5084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FELKOSTNAD PÅ OFFICIELLT TEST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86968" y="39593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Logistic Regression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86968" y="4242816"/>
            <a:ext cx="3675888" cy="283464"/>
          </a:xfrm>
          <a:prstGeom prst="roundRect">
            <a:avLst>
              <a:gd name="adj" fmla="val 16129"/>
            </a:avLst>
          </a:prstGeom>
          <a:solidFill>
            <a:srgbClr val="EDF2F4"/>
          </a:solidFill>
          <a:ln w="12700">
            <a:solidFill>
              <a:srgbClr val="EDF2F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86968" y="4242816"/>
            <a:ext cx="3443848" cy="283464"/>
          </a:xfrm>
          <a:prstGeom prst="roundRect">
            <a:avLst>
              <a:gd name="adj" fmla="val 16129"/>
            </a:avLst>
          </a:prstGeom>
          <a:solidFill>
            <a:srgbClr val="173647"/>
          </a:solidFill>
          <a:ln w="12700">
            <a:solidFill>
              <a:srgbClr val="17364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00016" y="418795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14 990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86968" y="47548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886968" y="5038344"/>
            <a:ext cx="3675888" cy="283464"/>
          </a:xfrm>
          <a:prstGeom prst="roundRect">
            <a:avLst>
              <a:gd name="adj" fmla="val 16129"/>
            </a:avLst>
          </a:prstGeom>
          <a:solidFill>
            <a:srgbClr val="EDF2F4"/>
          </a:solidFill>
          <a:ln w="12700">
            <a:solidFill>
              <a:srgbClr val="EDF2F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86968" y="5038344"/>
            <a:ext cx="2492712" cy="283464"/>
          </a:xfrm>
          <a:prstGeom prst="roundRect">
            <a:avLst>
              <a:gd name="adj" fmla="val 16129"/>
            </a:avLst>
          </a:prstGeom>
          <a:solidFill>
            <a:srgbClr val="177C78"/>
          </a:solidFill>
          <a:ln w="12700">
            <a:solidFill>
              <a:srgbClr val="177C7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00016" y="498348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10 850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446520" y="331012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11696" y="3602736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MODELL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732520" y="3602736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582912" y="3602736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FP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0250424" y="3602736"/>
            <a:ext cx="10241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Precision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702552" y="4005072"/>
            <a:ext cx="4526280" cy="0"/>
          </a:xfrm>
          <a:prstGeom prst="line">
            <a:avLst/>
          </a:prstGeom>
          <a:noFill/>
          <a:ln w="12700">
            <a:solidFill>
              <a:srgbClr val="DDE8E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729984" y="4279392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10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Logistic Regression</a:t>
            </a:r>
            <a:endParaRPr lang="en-US" sz="1410" dirty="0"/>
          </a:p>
        </p:txBody>
      </p:sp>
      <p:sp>
        <p:nvSpPr>
          <p:cNvPr id="35" name="Text 33"/>
          <p:cNvSpPr/>
          <p:nvPr/>
        </p:nvSpPr>
        <p:spPr>
          <a:xfrm>
            <a:off x="8778240" y="427939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628632" y="427939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449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10287000" y="427939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44,1 %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6729984" y="4992624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10" b="1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</a:t>
            </a:r>
            <a:endParaRPr lang="en-US" sz="1410" dirty="0"/>
          </a:p>
        </p:txBody>
      </p:sp>
      <p:sp>
        <p:nvSpPr>
          <p:cNvPr id="39" name="Text 37"/>
          <p:cNvSpPr/>
          <p:nvPr/>
        </p:nvSpPr>
        <p:spPr>
          <a:xfrm>
            <a:off x="8778240" y="49926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9628632" y="499262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335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10287000" y="49926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51,8 %</a:t>
            </a:r>
            <a:endParaRPr lang="en-US" sz="1450" dirty="0"/>
          </a:p>
        </p:txBody>
      </p:sp>
      <p:sp>
        <p:nvSpPr>
          <p:cNvPr id="42" name="Text 40"/>
          <p:cNvSpPr/>
          <p:nvPr/>
        </p:nvSpPr>
        <p:spPr>
          <a:xfrm>
            <a:off x="786384" y="5989320"/>
            <a:ext cx="10716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i="1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Dummy-modellen missade alla 375 APS-fel trots 97,66 % accuracy.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77C78"/>
          </a:solidFill>
          <a:ln w="12700">
            <a:solidFill>
              <a:srgbClr val="177C7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31089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10" kern="0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BEGRÄNSNINGAR · SLUTSATS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85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6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Lovande som beslutsstöd – inte redo för drift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57784" y="1307592"/>
            <a:ext cx="109728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 är bäst av de undersökta modellerna enligt projektets kostnadsantaganden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594592" cy="0"/>
          </a:xfrm>
          <a:prstGeom prst="line">
            <a:avLst/>
          </a:prstGeom>
          <a:noFill/>
          <a:ln w="12700">
            <a:solidFill>
              <a:srgbClr val="DDE8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01384"/>
            <a:ext cx="7315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579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SCANIA APS  ·  PROJEKT I DATA SCIENCE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0789920" y="6473952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 / 08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66928" y="1920240"/>
            <a:ext cx="5285232" cy="3648456"/>
          </a:xfrm>
          <a:prstGeom prst="roundRect">
            <a:avLst>
              <a:gd name="adj" fmla="val 3008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258568"/>
            <a:ext cx="4480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VAD RESULTATEN STÖDJER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05256" y="2912364"/>
            <a:ext cx="82296" cy="82296"/>
          </a:xfrm>
          <a:prstGeom prst="ellipse">
            <a:avLst/>
          </a:prstGeom>
          <a:solidFill>
            <a:srgbClr val="177C78"/>
          </a:solidFill>
          <a:ln w="12700">
            <a:solidFill>
              <a:srgbClr val="177C7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15568" y="2816352"/>
            <a:ext cx="4416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Fler APS-fel hittas (360 av 375)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5256" y="3479292"/>
            <a:ext cx="82296" cy="82296"/>
          </a:xfrm>
          <a:prstGeom prst="ellipse">
            <a:avLst/>
          </a:prstGeom>
          <a:solidFill>
            <a:srgbClr val="177C78"/>
          </a:solidFill>
          <a:ln w="12700">
            <a:solidFill>
              <a:srgbClr val="177C7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15568" y="3383280"/>
            <a:ext cx="4416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Färre falsklarm än Logistic Regression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905256" y="4046220"/>
            <a:ext cx="82296" cy="82296"/>
          </a:xfrm>
          <a:prstGeom prst="ellipse">
            <a:avLst/>
          </a:prstGeom>
          <a:solidFill>
            <a:srgbClr val="177C78"/>
          </a:solidFill>
          <a:ln w="12700">
            <a:solidFill>
              <a:srgbClr val="177C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15568" y="3950208"/>
            <a:ext cx="4416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27,6 % lägre beräknad felkostnad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905256" y="4613148"/>
            <a:ext cx="82296" cy="82296"/>
          </a:xfrm>
          <a:prstGeom prst="ellipse">
            <a:avLst/>
          </a:prstGeom>
          <a:solidFill>
            <a:srgbClr val="177C78"/>
          </a:solidFill>
          <a:ln w="12700">
            <a:solidFill>
              <a:srgbClr val="177C7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15568" y="4517136"/>
            <a:ext cx="4416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Prioritering av fordon för kontroll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108192" y="1920240"/>
            <a:ext cx="5477256" cy="3648456"/>
          </a:xfrm>
          <a:prstGeom prst="roundRect">
            <a:avLst>
              <a:gd name="adj" fmla="val 3008"/>
            </a:avLst>
          </a:prstGeom>
          <a:solidFill>
            <a:srgbClr val="FFFFFF"/>
          </a:solidFill>
          <a:ln w="8890">
            <a:solidFill>
              <a:srgbClr val="DDE8E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9944" y="2258568"/>
            <a:ext cx="4663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BB685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 VI INTE VET ÄN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28232" y="2912364"/>
            <a:ext cx="82296" cy="82296"/>
          </a:xfrm>
          <a:prstGeom prst="ellipse">
            <a:avLst/>
          </a:prstGeom>
          <a:solidFill>
            <a:srgbClr val="177C78"/>
          </a:solidFill>
          <a:ln w="12700">
            <a:solidFill>
              <a:srgbClr val="177C7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38544" y="2816352"/>
            <a:ext cx="449884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 APS-fel missas fortfarande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6428232" y="3479292"/>
            <a:ext cx="82296" cy="82296"/>
          </a:xfrm>
          <a:prstGeom prst="ellipse">
            <a:avLst/>
          </a:prstGeom>
          <a:solidFill>
            <a:srgbClr val="177C78"/>
          </a:solidFill>
          <a:ln w="12700">
            <a:solidFill>
              <a:srgbClr val="177C7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38544" y="3383280"/>
            <a:ext cx="449884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335 falsklarm kräver hantering</a:t>
            </a:r>
            <a:endParaRPr lang="en-US" sz="1550" dirty="0"/>
          </a:p>
        </p:txBody>
      </p:sp>
      <p:sp>
        <p:nvSpPr>
          <p:cNvPr id="25" name="Shape 23"/>
          <p:cNvSpPr/>
          <p:nvPr/>
        </p:nvSpPr>
        <p:spPr>
          <a:xfrm>
            <a:off x="6428232" y="4046220"/>
            <a:ext cx="82296" cy="82296"/>
          </a:xfrm>
          <a:prstGeom prst="ellipse">
            <a:avLst/>
          </a:prstGeom>
          <a:solidFill>
            <a:srgbClr val="177C78"/>
          </a:solidFill>
          <a:ln w="12700">
            <a:solidFill>
              <a:srgbClr val="177C7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38544" y="3950208"/>
            <a:ext cx="449884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Anonymiserade variabler försvårar tolkning</a:t>
            </a:r>
            <a:endParaRPr lang="en-US" sz="1550" dirty="0"/>
          </a:p>
        </p:txBody>
      </p:sp>
      <p:sp>
        <p:nvSpPr>
          <p:cNvPr id="27" name="Shape 25"/>
          <p:cNvSpPr/>
          <p:nvPr/>
        </p:nvSpPr>
        <p:spPr>
          <a:xfrm>
            <a:off x="6428232" y="4613148"/>
            <a:ext cx="82296" cy="82296"/>
          </a:xfrm>
          <a:prstGeom prst="ellipse">
            <a:avLst/>
          </a:prstGeom>
          <a:solidFill>
            <a:srgbClr val="177C78"/>
          </a:solidFill>
          <a:ln w="12700">
            <a:solidFill>
              <a:srgbClr val="177C7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38544" y="4517136"/>
            <a:ext cx="449884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21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Historisk testdata ≠ verklig drift</a:t>
            </a:r>
            <a:endParaRPr lang="en-US" sz="1550" dirty="0"/>
          </a:p>
        </p:txBody>
      </p:sp>
      <p:sp>
        <p:nvSpPr>
          <p:cNvPr id="29" name="Shape 27"/>
          <p:cNvSpPr/>
          <p:nvPr/>
        </p:nvSpPr>
        <p:spPr>
          <a:xfrm>
            <a:off x="594360" y="5760720"/>
            <a:ext cx="10981944" cy="429768"/>
          </a:xfrm>
          <a:prstGeom prst="roundRect">
            <a:avLst>
              <a:gd name="adj" fmla="val 19149"/>
            </a:avLst>
          </a:prstGeom>
          <a:solidFill>
            <a:srgbClr val="E7F3F0"/>
          </a:solidFill>
          <a:ln w="12700">
            <a:solidFill>
              <a:srgbClr val="E7F3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0392" y="5852160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40" b="1" dirty="0">
                <a:solidFill>
                  <a:srgbClr val="17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NÄSTA STEG   ·   Testa på nya fordonsdata och pröva kostnadsantaganden i underhållsverksamheten</a:t>
            </a:r>
            <a:endParaRPr lang="en-US" sz="13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Scania APS – Gruppresentation</dc:title>
  <dc:subject>Kostnadskänslig klassificering av APS-fel</dc:subject>
  <dc:creator>Projektgruppen Scania APS</dc:creator>
  <cp:lastModifiedBy>Projektgruppen Scania APS</cp:lastModifiedBy>
  <cp:revision>1</cp:revision>
  <dcterms:created xsi:type="dcterms:W3CDTF">2026-10-25T19:24:40Z</dcterms:created>
  <dcterms:modified xsi:type="dcterms:W3CDTF">2026-10-25T19:24:40Z</dcterms:modified>
</cp:coreProperties>
</file>