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4" d="100"/>
          <a:sy n="54" d="100"/>
        </p:scale>
        <p:origin x="77" y="5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944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AEFD7-7680-896C-5D8F-CACBEAB7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E237A-8AC0-6EF3-5DC7-401729C278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BEC366-16E8-C2A5-DAD1-7907436491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4A88D6-684A-C738-A4DB-DD68606A94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914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AC3FD-89FF-0F13-102A-24430DEFB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A364A-E730-B06D-E298-207B2F537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E4F1B7-7BB2-0E52-3CC1-3441BA702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48EFBD-E02D-B551-5973-2CADD85B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015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720000">
            <a:off x="8046720" y="914400"/>
            <a:ext cx="3886200" cy="3886200"/>
          </a:xfrm>
          <a:prstGeom prst="arc">
            <a:avLst/>
          </a:prstGeom>
          <a:solidFill>
            <a:srgbClr val="173647">
              <a:alpha val="0"/>
            </a:srgbClr>
          </a:solidFill>
          <a:ln w="38100">
            <a:solidFill>
              <a:srgbClr val="3F7E83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4" name="Shape 2"/>
          <p:cNvSpPr/>
          <p:nvPr/>
        </p:nvSpPr>
        <p:spPr>
          <a:xfrm rot="4200000">
            <a:off x="8778240" y="1737360"/>
            <a:ext cx="2560320" cy="2560320"/>
          </a:xfrm>
          <a:prstGeom prst="arc">
            <a:avLst/>
          </a:prstGeom>
          <a:solidFill>
            <a:srgbClr val="173647">
              <a:alpha val="0"/>
            </a:srgbClr>
          </a:solidFill>
          <a:ln w="38100">
            <a:solidFill>
              <a:srgbClr val="71B9A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713232" y="95097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kern="0" spc="230" dirty="0">
                <a:solidFill>
                  <a:srgbClr val="8FD3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PROJEKT I DATA SCIENCE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508760"/>
            <a:ext cx="9144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 vi identifiera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APS-fel med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maskininlärning?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58952" y="482803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6E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Kostnadskänslig klassificering av APS-fel i Scania-lastbilar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9808" y="5678424"/>
            <a:ext cx="10332720" cy="0"/>
          </a:xfrm>
          <a:prstGeom prst="line">
            <a:avLst/>
          </a:prstGeom>
          <a:noFill/>
          <a:ln w="12700">
            <a:solidFill>
              <a:srgbClr val="50717D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758952" y="598017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FF6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Yunus Capar  ·  Elza Capar  ·  Tim Rydén  ·  Eliesa Dudus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· ANVÄNDARE · MÅL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Färre missade APS-fel – utan onödiga kontroller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Vår fråga: kan fordonsdata hjälpa underhållsansvariga att prioritera rätt fordon?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929384"/>
            <a:ext cx="5349240" cy="3538728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859536" y="22768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9536" y="2770632"/>
            <a:ext cx="47365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Missade fel är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mycket dyrare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än falsklarm.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68680" y="47823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varning ska ge stöd för kontroll – inte ersätta underhållsbeslut.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44768" y="1929384"/>
            <a:ext cx="5477256" cy="3538728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6446520" y="22768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TÄNKT ANVÄNDARE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28232" y="2848356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6638544" y="2752344"/>
            <a:ext cx="4361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Underhållsansvarig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28232" y="3506724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6638544" y="3410712"/>
            <a:ext cx="4361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Verkstadsplanerare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28232" y="416509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6638544" y="4069080"/>
            <a:ext cx="4361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Fleet / reliability manager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28232" y="4937760"/>
            <a:ext cx="4800600" cy="329184"/>
          </a:xfrm>
          <a:prstGeom prst="roundRect">
            <a:avLst>
              <a:gd name="adj" fmla="val 22222"/>
            </a:avLst>
          </a:prstGeom>
          <a:solidFill>
            <a:srgbClr val="E7F3F0"/>
          </a:solidFill>
          <a:ln w="12700">
            <a:solidFill>
              <a:srgbClr val="E7F3F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6537960" y="5001768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Beslutsstöd – inte automatiska reparationsbeslut</a:t>
            </a:r>
            <a:endParaRPr lang="en-US" sz="11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· DATAKVALITET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60 000 träningsfall – bara 1 000 APS-fel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170 anonymiserade indatafält + målvariabeln class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072" y="1856232"/>
            <a:ext cx="242316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749808" y="2002536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60 000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49808" y="2633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träningsobservationer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3191256" y="1856232"/>
            <a:ext cx="242316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3364992" y="2002536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16 000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3364992" y="2633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separata testobservationer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5797296" y="1856232"/>
            <a:ext cx="242316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5971032" y="2002536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8,33 %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5971032" y="2633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saknade feature-värden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8403336" y="1856232"/>
            <a:ext cx="3182112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8577072" y="2002536"/>
            <a:ext cx="28529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8577072" y="2633472"/>
            <a:ext cx="2862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variabler med ≥75 % saknade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576072" y="3319272"/>
            <a:ext cx="6437376" cy="2441448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850392" y="3575304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KRAFTIG KLASSOBALANS I TRÄNINGSDATAN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9536" y="40142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Inget APS-fel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59536" y="4297680"/>
            <a:ext cx="4846320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5" name="Shape 23"/>
          <p:cNvSpPr/>
          <p:nvPr/>
        </p:nvSpPr>
        <p:spPr>
          <a:xfrm>
            <a:off x="859536" y="4297680"/>
            <a:ext cx="4765548" cy="283464"/>
          </a:xfrm>
          <a:prstGeom prst="roundRect">
            <a:avLst>
              <a:gd name="adj" fmla="val 16129"/>
            </a:avLst>
          </a:prstGeom>
          <a:solidFill>
            <a:srgbClr val="173647"/>
          </a:solidFill>
          <a:ln w="12700">
            <a:solidFill>
              <a:srgbClr val="17364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5843016" y="42428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59 000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APS-fel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59536" y="5038344"/>
            <a:ext cx="4846320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859536" y="5038344"/>
            <a:ext cx="80772" cy="283464"/>
          </a:xfrm>
          <a:prstGeom prst="roundRect">
            <a:avLst>
              <a:gd name="adj" fmla="val 56604"/>
            </a:avLst>
          </a:prstGeom>
          <a:solidFill>
            <a:srgbClr val="E3A166"/>
          </a:solidFill>
          <a:ln w="12700">
            <a:solidFill>
              <a:srgbClr val="E3A166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5843016" y="49834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1 000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223760" y="3319272"/>
            <a:ext cx="4361688" cy="2441448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7498080" y="3575304"/>
            <a:ext cx="3767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SÅ HANTERADES DATAN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07224" y="411937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7717536" y="4023360"/>
            <a:ext cx="3557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4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Medianimputering + indikatorer</a:t>
            </a:r>
            <a:endParaRPr lang="en-US" sz="1440" dirty="0"/>
          </a:p>
        </p:txBody>
      </p:sp>
      <p:sp>
        <p:nvSpPr>
          <p:cNvPr id="35" name="Shape 33"/>
          <p:cNvSpPr/>
          <p:nvPr/>
        </p:nvSpPr>
        <p:spPr>
          <a:xfrm>
            <a:off x="7507224" y="4631436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7717536" y="4535424"/>
            <a:ext cx="3557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4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Konstant kolumn cd_000 bort</a:t>
            </a:r>
            <a:endParaRPr lang="en-US" sz="1440" dirty="0"/>
          </a:p>
        </p:txBody>
      </p:sp>
      <p:sp>
        <p:nvSpPr>
          <p:cNvPr id="37" name="Shape 35"/>
          <p:cNvSpPr/>
          <p:nvPr/>
        </p:nvSpPr>
        <p:spPr>
          <a:xfrm>
            <a:off x="7507224" y="5143500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7717536" y="5047488"/>
            <a:ext cx="3557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4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 testset för slutkontroll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· BASELINE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som utgångspunkt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 validering: 12 000 observationer · tröskel 0,50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" y="2657474"/>
            <a:ext cx="3990785" cy="2892933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816427" y="2282528"/>
            <a:ext cx="3632129" cy="1969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FÖRBEHANDLING → MODELL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1884" y="3126573"/>
            <a:ext cx="3476852" cy="39386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915620" y="3194551"/>
            <a:ext cx="3240561" cy="1887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 bort cd_000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1884" y="3702645"/>
            <a:ext cx="3476852" cy="39386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915620" y="3770623"/>
            <a:ext cx="3240561" cy="1887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 + missing indicators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41884" y="4278717"/>
            <a:ext cx="3476852" cy="39386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915620" y="4346695"/>
            <a:ext cx="3240561" cy="1887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StandardScaler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1884" y="4854789"/>
            <a:ext cx="3476852" cy="39386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915620" y="4922767"/>
            <a:ext cx="3240561" cy="1887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Logistic Regression</a:t>
            </a:r>
            <a:endParaRPr lang="en-US" sz="1500" dirty="0"/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B93E95E8-D4F5-3C7A-A846-7179A10CCF46}"/>
              </a:ext>
            </a:extLst>
          </p:cNvPr>
          <p:cNvSpPr/>
          <p:nvPr/>
        </p:nvSpPr>
        <p:spPr>
          <a:xfrm>
            <a:off x="5431536" y="2051811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A80"/>
                </a:solidFill>
              </a:rPr>
              <a:t>recall på intern validering</a:t>
            </a:r>
            <a:endParaRPr lang="en-US" sz="1200" dirty="0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8274D94A-81E2-EBF3-B66E-D2ED1143C6CB}"/>
              </a:ext>
            </a:extLst>
          </p:cNvPr>
          <p:cNvSpPr/>
          <p:nvPr/>
        </p:nvSpPr>
        <p:spPr>
          <a:xfrm>
            <a:off x="7703820" y="2026539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A80"/>
                </a:solidFill>
              </a:rPr>
              <a:t>missade APS-fel (FN)</a:t>
            </a:r>
            <a:endParaRPr lang="en-US" sz="12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A467D61D-C2E0-A220-F7EA-9206785E6DCE}"/>
              </a:ext>
            </a:extLst>
          </p:cNvPr>
          <p:cNvSpPr/>
          <p:nvPr/>
        </p:nvSpPr>
        <p:spPr>
          <a:xfrm>
            <a:off x="9669780" y="2026539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A80"/>
                </a:solidFill>
              </a:rPr>
              <a:t>felkostnad · FP 364 / FN 16</a:t>
            </a:r>
            <a:endParaRPr lang="en-US" sz="1200" dirty="0"/>
          </a:p>
        </p:txBody>
      </p:sp>
      <p:sp>
        <p:nvSpPr>
          <p:cNvPr id="36" name="Shape 21">
            <a:extLst>
              <a:ext uri="{FF2B5EF4-FFF2-40B4-BE49-F238E27FC236}">
                <a16:creationId xmlns:a16="http://schemas.microsoft.com/office/drawing/2014/main" id="{FD08CD52-7A96-5470-597F-EB05BE9A111B}"/>
              </a:ext>
            </a:extLst>
          </p:cNvPr>
          <p:cNvSpPr/>
          <p:nvPr/>
        </p:nvSpPr>
        <p:spPr>
          <a:xfrm>
            <a:off x="4736592" y="2651760"/>
            <a:ext cx="6888480" cy="2880357"/>
          </a:xfrm>
          <a:prstGeom prst="roundRect">
            <a:avLst>
              <a:gd name="adj" fmla="val 3404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DE5E6"/>
            </a:solidFill>
            <a:prstDash val="solid"/>
          </a:ln>
        </p:spPr>
        <p:txBody>
          <a:bodyPr/>
          <a:lstStyle/>
          <a:p>
            <a:endParaRPr lang="en-SE" dirty="0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88DC7868-8819-CF19-978C-9F08A5CC5923}"/>
              </a:ext>
            </a:extLst>
          </p:cNvPr>
          <p:cNvSpPr/>
          <p:nvPr/>
        </p:nvSpPr>
        <p:spPr>
          <a:xfrm>
            <a:off x="5010912" y="295351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8394A"/>
                </a:solidFill>
              </a:rPr>
              <a:t>VARFÖR DUMMY-MODELLEN INTE RÄCKER</a:t>
            </a:r>
            <a:endParaRPr lang="en-US" sz="1400" dirty="0"/>
          </a:p>
        </p:txBody>
      </p:sp>
      <p:sp>
        <p:nvSpPr>
          <p:cNvPr id="40" name="Text 23">
            <a:extLst>
              <a:ext uri="{FF2B5EF4-FFF2-40B4-BE49-F238E27FC236}">
                <a16:creationId xmlns:a16="http://schemas.microsoft.com/office/drawing/2014/main" id="{E668D744-5F4A-DB9A-D715-522078942DFE}"/>
              </a:ext>
            </a:extLst>
          </p:cNvPr>
          <p:cNvSpPr/>
          <p:nvPr/>
        </p:nvSpPr>
        <p:spPr>
          <a:xfrm>
            <a:off x="5010912" y="3264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A80"/>
                </a:solidFill>
              </a:rPr>
              <a:t>Felkostnad på samma validation – lägre är bättre</a:t>
            </a:r>
            <a:endParaRPr lang="en-US" sz="1200" dirty="0"/>
          </a:p>
        </p:txBody>
      </p:sp>
      <p:sp>
        <p:nvSpPr>
          <p:cNvPr id="42" name="Text 24">
            <a:extLst>
              <a:ext uri="{FF2B5EF4-FFF2-40B4-BE49-F238E27FC236}">
                <a16:creationId xmlns:a16="http://schemas.microsoft.com/office/drawing/2014/main" id="{FC8760EF-77CC-9AD3-F9A4-57B47227E705}"/>
              </a:ext>
            </a:extLst>
          </p:cNvPr>
          <p:cNvSpPr/>
          <p:nvPr/>
        </p:nvSpPr>
        <p:spPr>
          <a:xfrm>
            <a:off x="5074920" y="3831336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A80"/>
                </a:solidFill>
              </a:rPr>
              <a:t>Dummy</a:t>
            </a:r>
            <a:endParaRPr lang="en-US" sz="1050" dirty="0"/>
          </a:p>
        </p:txBody>
      </p:sp>
      <p:sp>
        <p:nvSpPr>
          <p:cNvPr id="44" name="Shape 25">
            <a:extLst>
              <a:ext uri="{FF2B5EF4-FFF2-40B4-BE49-F238E27FC236}">
                <a16:creationId xmlns:a16="http://schemas.microsoft.com/office/drawing/2014/main" id="{096484CC-94B3-1B56-6CF1-505BB75EBDBE}"/>
              </a:ext>
            </a:extLst>
          </p:cNvPr>
          <p:cNvSpPr/>
          <p:nvPr/>
        </p:nvSpPr>
        <p:spPr>
          <a:xfrm>
            <a:off x="5833872" y="3840480"/>
            <a:ext cx="5120640" cy="228600"/>
          </a:xfrm>
          <a:prstGeom prst="rect">
            <a:avLst/>
          </a:prstGeom>
          <a:solidFill>
            <a:srgbClr val="AAB8BC"/>
          </a:solidFill>
          <a:ln w="12700">
            <a:solidFill>
              <a:srgbClr val="AAB8B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8237236A-ADFA-4BA7-4A9D-10FF3694C854}"/>
              </a:ext>
            </a:extLst>
          </p:cNvPr>
          <p:cNvSpPr/>
          <p:nvPr/>
        </p:nvSpPr>
        <p:spPr>
          <a:xfrm>
            <a:off x="10259568" y="384377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8394A"/>
                </a:solidFill>
              </a:rPr>
              <a:t>100 000</a:t>
            </a:r>
            <a:endParaRPr lang="en-US" sz="900" dirty="0"/>
          </a:p>
        </p:txBody>
      </p:sp>
      <p:sp>
        <p:nvSpPr>
          <p:cNvPr id="48" name="Text 27">
            <a:extLst>
              <a:ext uri="{FF2B5EF4-FFF2-40B4-BE49-F238E27FC236}">
                <a16:creationId xmlns:a16="http://schemas.microsoft.com/office/drawing/2014/main" id="{9AB39548-0ADD-009A-6CAD-C487ED3F03F5}"/>
              </a:ext>
            </a:extLst>
          </p:cNvPr>
          <p:cNvSpPr/>
          <p:nvPr/>
        </p:nvSpPr>
        <p:spPr>
          <a:xfrm>
            <a:off x="5074920" y="4325112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A80"/>
                </a:solidFill>
              </a:rPr>
              <a:t>LogReg</a:t>
            </a:r>
            <a:endParaRPr lang="en-US" sz="1100" dirty="0"/>
          </a:p>
        </p:txBody>
      </p:sp>
      <p:sp>
        <p:nvSpPr>
          <p:cNvPr id="50" name="Shape 28">
            <a:extLst>
              <a:ext uri="{FF2B5EF4-FFF2-40B4-BE49-F238E27FC236}">
                <a16:creationId xmlns:a16="http://schemas.microsoft.com/office/drawing/2014/main" id="{A41F694E-D5F0-AA2D-9197-95939AE23C0E}"/>
              </a:ext>
            </a:extLst>
          </p:cNvPr>
          <p:cNvSpPr/>
          <p:nvPr/>
        </p:nvSpPr>
        <p:spPr>
          <a:xfrm>
            <a:off x="5833872" y="4334256"/>
            <a:ext cx="596042" cy="228600"/>
          </a:xfrm>
          <a:prstGeom prst="rect">
            <a:avLst/>
          </a:prstGeom>
          <a:solidFill>
            <a:srgbClr val="278C88"/>
          </a:solidFill>
          <a:ln w="12700">
            <a:solidFill>
              <a:srgbClr val="278C8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52" name="Text 29">
            <a:extLst>
              <a:ext uri="{FF2B5EF4-FFF2-40B4-BE49-F238E27FC236}">
                <a16:creationId xmlns:a16="http://schemas.microsoft.com/office/drawing/2014/main" id="{9EA6B5F3-7256-90B4-BA45-DFAB86DA9B89}"/>
              </a:ext>
            </a:extLst>
          </p:cNvPr>
          <p:cNvSpPr/>
          <p:nvPr/>
        </p:nvSpPr>
        <p:spPr>
          <a:xfrm>
            <a:off x="6537960" y="437083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7774"/>
                </a:solidFill>
              </a:rPr>
              <a:t>11 640</a:t>
            </a:r>
            <a:endParaRPr lang="en-US" sz="900" dirty="0"/>
          </a:p>
        </p:txBody>
      </p:sp>
      <p:sp>
        <p:nvSpPr>
          <p:cNvPr id="54" name="Text 30">
            <a:extLst>
              <a:ext uri="{FF2B5EF4-FFF2-40B4-BE49-F238E27FC236}">
                <a16:creationId xmlns:a16="http://schemas.microsoft.com/office/drawing/2014/main" id="{A49138B1-9697-9E4E-09CA-D4EE5CA28353}"/>
              </a:ext>
            </a:extLst>
          </p:cNvPr>
          <p:cNvSpPr/>
          <p:nvPr/>
        </p:nvSpPr>
        <p:spPr>
          <a:xfrm>
            <a:off x="5010912" y="4690871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774"/>
                </a:solidFill>
              </a:rPr>
              <a:t>Dummy: 98,33 % accuracy men 0 % recall</a:t>
            </a:r>
            <a:endParaRPr lang="en-US" sz="1100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768CC4DE-C522-EA21-7B1E-B29CD2963BD9}"/>
              </a:ext>
            </a:extLst>
          </p:cNvPr>
          <p:cNvSpPr/>
          <p:nvPr/>
        </p:nvSpPr>
        <p:spPr>
          <a:xfrm>
            <a:off x="5010912" y="5001768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A80"/>
                </a:solidFill>
              </a:rPr>
              <a:t>Hög accuracy såg bra ut – men modellen hittade inget APS-fel.</a:t>
            </a:r>
            <a:endParaRPr lang="en-US" sz="1050" dirty="0"/>
          </a:p>
        </p:txBody>
      </p:sp>
      <p:sp>
        <p:nvSpPr>
          <p:cNvPr id="58" name="Text 15">
            <a:extLst>
              <a:ext uri="{FF2B5EF4-FFF2-40B4-BE49-F238E27FC236}">
                <a16:creationId xmlns:a16="http://schemas.microsoft.com/office/drawing/2014/main" id="{77047815-F819-62C9-AC9C-8549D5377217}"/>
              </a:ext>
            </a:extLst>
          </p:cNvPr>
          <p:cNvSpPr/>
          <p:nvPr/>
        </p:nvSpPr>
        <p:spPr>
          <a:xfrm>
            <a:off x="5907024" y="1750058"/>
            <a:ext cx="1417320" cy="279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394A"/>
                </a:solidFill>
              </a:rPr>
              <a:t>92 %</a:t>
            </a:r>
            <a:endParaRPr lang="en-US" sz="2800" dirty="0"/>
          </a:p>
        </p:txBody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CF69832-88D1-0FAB-A8A0-B899D66889B9}"/>
              </a:ext>
            </a:extLst>
          </p:cNvPr>
          <p:cNvSpPr/>
          <p:nvPr/>
        </p:nvSpPr>
        <p:spPr>
          <a:xfrm>
            <a:off x="8106156" y="1648777"/>
            <a:ext cx="13533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394A"/>
                </a:solidFill>
              </a:rPr>
              <a:t>16</a:t>
            </a:r>
            <a:endParaRPr lang="en-US" sz="2100" dirty="0"/>
          </a:p>
        </p:txBody>
      </p:sp>
      <p:sp>
        <p:nvSpPr>
          <p:cNvPr id="62" name="Text 19">
            <a:extLst>
              <a:ext uri="{FF2B5EF4-FFF2-40B4-BE49-F238E27FC236}">
                <a16:creationId xmlns:a16="http://schemas.microsoft.com/office/drawing/2014/main" id="{418AC8B0-C519-E44D-8681-F96D8499B84B}"/>
              </a:ext>
            </a:extLst>
          </p:cNvPr>
          <p:cNvSpPr/>
          <p:nvPr/>
        </p:nvSpPr>
        <p:spPr>
          <a:xfrm>
            <a:off x="10049256" y="1679065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394A"/>
                </a:solidFill>
              </a:rPr>
              <a:t>11 640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· FÖRBÄTTRINGAR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Modellen valdes med kostnaden som mål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Inställningar och tröskel valdes på kalibreringsdata – inte på officiellt testset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892808"/>
            <a:ext cx="5193792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859536" y="21854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FYRA VARIANTER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968" y="2743200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· depth 14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60520" y="2743200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9 410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300984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· depth 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60520" y="3300984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9 040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86968" y="3858768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Utan klassvikter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60520" y="3858768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8 590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" y="4416552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Klassvikt 15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60520" y="4416552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8 280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6112" y="515721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Lägst kostnad under kalibrering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7608" y="1892808"/>
            <a:ext cx="5586984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6318504" y="21945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VALD RANDOM FOREST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2231136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6483096" y="2843784"/>
            <a:ext cx="19019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110</a:t>
            </a:r>
            <a:endParaRPr lang="en-US" sz="2900" dirty="0"/>
          </a:p>
        </p:txBody>
      </p:sp>
      <p:sp>
        <p:nvSpPr>
          <p:cNvPr id="24" name="Text 22"/>
          <p:cNvSpPr/>
          <p:nvPr/>
        </p:nvSpPr>
        <p:spPr>
          <a:xfrm>
            <a:off x="6483096" y="3474720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beslutsträd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714232" y="2697480"/>
            <a:ext cx="2505456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8887968" y="2843784"/>
            <a:ext cx="21762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2900" dirty="0"/>
          </a:p>
        </p:txBody>
      </p:sp>
      <p:sp>
        <p:nvSpPr>
          <p:cNvPr id="27" name="Text 25"/>
          <p:cNvSpPr/>
          <p:nvPr/>
        </p:nvSpPr>
        <p:spPr>
          <a:xfrm>
            <a:off x="8887968" y="3474720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maximalt träddjup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355080" y="4151376"/>
            <a:ext cx="4837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Klassvikter: 0 → 1    |    1 → 15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345936" y="4709160"/>
            <a:ext cx="4919472" cy="457200"/>
          </a:xfrm>
          <a:prstGeom prst="roundRect">
            <a:avLst>
              <a:gd name="adj" fmla="val 16000"/>
            </a:avLst>
          </a:prstGeom>
          <a:solidFill>
            <a:srgbClr val="E7F3F0"/>
          </a:solidFill>
          <a:ln w="12700">
            <a:solidFill>
              <a:srgbClr val="E7F3F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6528816" y="47914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Fastställd tröskel: 0,105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6D6C1-5DAD-339F-42FE-06A2B177E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4A9D76-2696-8B11-78DF-B45691C39F16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86E13F4-04B6-AF62-6CA3-328765227029}"/>
              </a:ext>
            </a:extLst>
          </p:cNvPr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· FÖRBÄTTRINGAR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C9368C-6C7F-89AA-0293-3058DC68DF6F}"/>
              </a:ext>
            </a:extLst>
          </p:cNvPr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Threshold</a:t>
            </a:r>
            <a:endParaRPr lang="en-US" sz="3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90D91C2-6E08-B4BF-431A-683FFF4841EC}"/>
              </a:ext>
            </a:extLst>
          </p:cNvPr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 av </a:t>
            </a:r>
            <a:r>
              <a:rPr lang="en-US" sz="1400" dirty="0" err="1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Treshold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2BAEF20-7305-95E7-AB96-4693459B592B}"/>
              </a:ext>
            </a:extLst>
          </p:cNvPr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6CCF58C-1173-3E94-002E-B497F559BF9D}"/>
              </a:ext>
            </a:extLst>
          </p:cNvPr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E3BE23-2179-C260-E427-0FE9E33EB376}"/>
              </a:ext>
            </a:extLst>
          </p:cNvPr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08</a:t>
            </a:r>
            <a:endParaRPr lang="en-US" sz="10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69B81D0-BD54-4816-589C-99B27BE87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272" y="1819654"/>
            <a:ext cx="10222992" cy="442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438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 VALIDERING · 12 000 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gav lägst intern felkostnad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Modellvalet gjordes före det officiella sluttestet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892808"/>
            <a:ext cx="6858000" cy="359359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905256" y="223113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– LÄGRE ÄR BÄTTRE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256" y="2670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0,50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05256" y="2953512"/>
            <a:ext cx="4882896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905256" y="2953512"/>
            <a:ext cx="4736409" cy="283464"/>
          </a:xfrm>
          <a:prstGeom prst="roundRect">
            <a:avLst>
              <a:gd name="adj" fmla="val 16129"/>
            </a:avLst>
          </a:prstGeom>
          <a:solidFill>
            <a:srgbClr val="173647"/>
          </a:solidFill>
          <a:ln w="12700">
            <a:solidFill>
              <a:srgbClr val="17364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5925312" y="28986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11 640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5256" y="3639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0,460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05256" y="3922776"/>
            <a:ext cx="4882896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05256" y="3922776"/>
            <a:ext cx="4813722" cy="283464"/>
          </a:xfrm>
          <a:prstGeom prst="roundRect">
            <a:avLst>
              <a:gd name="adj" fmla="val 16129"/>
            </a:avLst>
          </a:prstGeom>
          <a:solidFill>
            <a:srgbClr val="99ADB4"/>
          </a:solidFill>
          <a:ln w="12700">
            <a:solidFill>
              <a:srgbClr val="99ADB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5925312" y="3867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11 830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5256" y="46085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0,105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05256" y="4892040"/>
            <a:ext cx="4882896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905256" y="4892040"/>
            <a:ext cx="2710007" cy="283464"/>
          </a:xfrm>
          <a:prstGeom prst="roundRect">
            <a:avLst>
              <a:gd name="adj" fmla="val 16129"/>
            </a:avLst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5925312" y="48371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6 660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08392" y="1892808"/>
            <a:ext cx="3867912" cy="359359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7982712" y="2386584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42,8 %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8010144" y="3264408"/>
            <a:ext cx="3191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lägre felkostnad jämfört med LR 0,50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991856" y="4151376"/>
            <a:ext cx="3035808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8010144" y="4425696"/>
            <a:ext cx="3191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Forest: 6 missade fel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Regression: 16 missade fel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77240" y="5843016"/>
            <a:ext cx="10698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OBS: intern validering – inte officiella testresultat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1111EF-A5C2-9A52-30BD-C9FCBDC24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5627C6C-18BA-1297-DEE3-8ECC776D990E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68B79C-B303-6538-0FC7-04373DD2E486}"/>
              </a:ext>
            </a:extLst>
          </p:cNvPr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 VALIDERING · 12 000 FALL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CD7EA3-49F3-A57D-A0E2-DE4B979BC2F2}"/>
              </a:ext>
            </a:extLst>
          </p:cNvPr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vs Logistic Regression</a:t>
            </a:r>
            <a:endParaRPr lang="en-US" sz="3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9460ECD-3475-2239-5934-C14C4884A710}"/>
              </a:ext>
            </a:extLst>
          </p:cNvPr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15EC28-39D9-B73F-88FC-95983FCC274D}"/>
              </a:ext>
            </a:extLst>
          </p:cNvPr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5709CF8-39C7-6E0B-5718-36B14C2F498B}"/>
              </a:ext>
            </a:extLst>
          </p:cNvPr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08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7F3FB2-D764-9A1B-281D-00801E1EA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787" y="1234440"/>
            <a:ext cx="2401957" cy="2332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FA8DCF-46BA-2BC1-20FF-5A87C437F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1234438"/>
            <a:ext cx="2549564" cy="23323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0D82DC-3F8D-88A8-AE58-CBF176D18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4616" y="3566774"/>
            <a:ext cx="7902768" cy="264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91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OFFICIELLT TEST · 16 000 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vann på ny testdata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375 verkliga APS-fel · modellerna tränades på 60 000 träningsfall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865376"/>
            <a:ext cx="3584448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740664" y="2011680"/>
            <a:ext cx="32552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−27,6 %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40664" y="2642616"/>
            <a:ext cx="3264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mot Logistic Regression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4370832" y="1865376"/>
            <a:ext cx="3593592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4544568" y="2011680"/>
            <a:ext cx="32644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360 / 375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4544568" y="264261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APS-fel hittade med Random Forest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8174736" y="1865376"/>
            <a:ext cx="3401568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8348472" y="2011680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96,0 %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8348472" y="2642616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 för Random Forest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585216" y="3310128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859536" y="3593592"/>
            <a:ext cx="5084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PÅ OFFICIELLT TEST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6968" y="3959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86968" y="4242816"/>
            <a:ext cx="3675888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886968" y="4242816"/>
            <a:ext cx="3443848" cy="283464"/>
          </a:xfrm>
          <a:prstGeom prst="roundRect">
            <a:avLst>
              <a:gd name="adj" fmla="val 16129"/>
            </a:avLst>
          </a:prstGeom>
          <a:solidFill>
            <a:srgbClr val="173647"/>
          </a:solidFill>
          <a:ln w="12700">
            <a:solidFill>
              <a:srgbClr val="17364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4700016" y="41879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14 990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86968" y="5038344"/>
            <a:ext cx="3675888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886968" y="5038344"/>
            <a:ext cx="2492712" cy="283464"/>
          </a:xfrm>
          <a:prstGeom prst="roundRect">
            <a:avLst>
              <a:gd name="adj" fmla="val 16129"/>
            </a:avLst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700016" y="49834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10 850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46520" y="331012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6711696" y="36027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732520" y="36027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582912" y="36027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250424" y="3602736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02552" y="4005072"/>
            <a:ext cx="4526280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6729984" y="4279392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</a:t>
            </a:r>
            <a:endParaRPr lang="en-US" sz="1410" dirty="0"/>
          </a:p>
        </p:txBody>
      </p:sp>
      <p:sp>
        <p:nvSpPr>
          <p:cNvPr id="35" name="Text 33"/>
          <p:cNvSpPr/>
          <p:nvPr/>
        </p:nvSpPr>
        <p:spPr>
          <a:xfrm>
            <a:off x="8778240" y="42793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628632" y="42793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287000" y="42793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44,1 %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729984" y="499262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410" dirty="0"/>
          </a:p>
        </p:txBody>
      </p:sp>
      <p:sp>
        <p:nvSpPr>
          <p:cNvPr id="39" name="Text 37"/>
          <p:cNvSpPr/>
          <p:nvPr/>
        </p:nvSpPr>
        <p:spPr>
          <a:xfrm>
            <a:off x="8778240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628632" y="49926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335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0287000" y="49926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51,8 %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786384" y="5989320"/>
            <a:ext cx="10716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Dummy-modellen missade alla 375 APS-fel trots 97,66 % accuracy.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1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BEGRÄNSNINGAR · SLUTSATS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Lovande som beslutsstöd – inte redo för drift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är bäst av de undersökta modellerna enligt projektets kostnadsantaganden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5285232" cy="3648456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868680" y="2258568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VAD RESULTATEN STÖDJER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05256" y="2912364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1115568" y="2816352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Fler APS-fel hittas (360 av 375)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5256" y="347929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1115568" y="3383280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Färre falsklarm än Logistic Regression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5256" y="4046220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1115568" y="3950208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27,6 % lägre beräknad felkostnad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5256" y="4613148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115568" y="4517136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Prioritering av fordon för kontroll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08192" y="1920240"/>
            <a:ext cx="5477256" cy="3648456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6409944" y="225856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B68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 VI INTE VET ÄN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28232" y="2912364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6638544" y="2816352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APS-fel missas fortfarande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428232" y="347929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6638544" y="3383280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335 falsklarm kräver hantering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28232" y="4046220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6638544" y="3950208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Anonymiserade variabler försvårar tolkning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6428232" y="4613148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6638544" y="4517136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Historisk testdata ≠ verklig drift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94360" y="5760720"/>
            <a:ext cx="10981944" cy="429768"/>
          </a:xfrm>
          <a:prstGeom prst="roundRect">
            <a:avLst>
              <a:gd name="adj" fmla="val 19149"/>
            </a:avLst>
          </a:prstGeom>
          <a:solidFill>
            <a:srgbClr val="E7F3F0"/>
          </a:solidFill>
          <a:ln w="12700">
            <a:solidFill>
              <a:srgbClr val="E7F3F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850392" y="585216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4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NÄSTA STEG   ·   Testa på nya fordonsdata och pröva kostnadsantaganden i underhållsverksamheten</a:t>
            </a:r>
            <a:endParaRPr lang="en-US" sz="13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658</Words>
  <Application>Microsoft Office PowerPoint</Application>
  <PresentationFormat>Widescreen</PresentationFormat>
  <Paragraphs>170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Scania APS – Gruppresentation</dc:title>
  <dc:subject>Kostnadskänslig klassificering av APS-fel</dc:subject>
  <dc:creator>Projektgruppen Scania APS</dc:creator>
  <cp:lastModifiedBy>Elza Capar</cp:lastModifiedBy>
  <cp:revision>3</cp:revision>
  <dcterms:created xsi:type="dcterms:W3CDTF">2026-10-25T19:24:40Z</dcterms:created>
  <dcterms:modified xsi:type="dcterms:W3CDTF">2026-10-29T11:18:55Z</dcterms:modified>
</cp:coreProperties>
</file>