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94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EFD7-7680-896C-5D8F-CACBEAB7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E237A-8AC0-6EF3-5DC7-401729C27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EC366-16E8-C2A5-DAD1-790743649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A88D6-684A-C738-A4DB-DD68606A94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91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C3FD-89FF-0F13-102A-24430DEF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A364A-E730-B06D-E298-207B2F537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4F1B7-7BB2-0E52-3CC1-3441BA702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8EFBD-E02D-B551-5973-2CADD85B0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01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720000">
            <a:off x="8046720" y="914400"/>
            <a:ext cx="3886200" cy="3886200"/>
          </a:xfrm>
          <a:prstGeom prst="arc">
            <a:avLst/>
          </a:prstGeom>
          <a:solidFill>
            <a:srgbClr val="173647">
              <a:alpha val="0"/>
            </a:srgbClr>
          </a:solidFill>
          <a:ln w="38100">
            <a:solidFill>
              <a:srgbClr val="3F7E8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 rot="4200000">
            <a:off x="8778240" y="1737360"/>
            <a:ext cx="2560320" cy="2560320"/>
          </a:xfrm>
          <a:prstGeom prst="arc">
            <a:avLst/>
          </a:prstGeom>
          <a:solidFill>
            <a:srgbClr val="173647">
              <a:alpha val="0"/>
            </a:srgbClr>
          </a:solidFill>
          <a:ln w="38100">
            <a:solidFill>
              <a:srgbClr val="71B9A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713232" y="9509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230" dirty="0">
                <a:solidFill>
                  <a:srgbClr val="8FD3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PROJEKT I DATA SCIENCE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508760"/>
            <a:ext cx="9144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 vi identifiera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APS-fel med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maskininlärning?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58952" y="482803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E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Kostnadskänslig klassificering av APS-fel i Scania-lastbilar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5678424"/>
            <a:ext cx="10332720" cy="0"/>
          </a:xfrm>
          <a:prstGeom prst="line">
            <a:avLst/>
          </a:prstGeom>
          <a:noFill/>
          <a:ln w="12700">
            <a:solidFill>
              <a:srgbClr val="50717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758952" y="598017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FF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Yunus Capar  ·  Elza Capar  ·  Tim Rydén  ·  Eliesa Dudus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· ANVÄNDARE · MÅL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Färre missade APS-fel – utan onödiga kontroller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Vår fråga: kan fordonsdata hjälpa underhållsansvariga att prioritera rätt fordon?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929384"/>
            <a:ext cx="5349240" cy="353872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859536" y="2276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2770632"/>
            <a:ext cx="4736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Missade fel är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mycket dyrare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än falsklarm.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68680" y="478231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varning ska ge stöd för kontroll – inte ersätta underhållsbeslut.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44768" y="1929384"/>
            <a:ext cx="5477256" cy="353872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6446520" y="2276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TÄNKT ANVÄNDARE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28232" y="2848356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6638544" y="2752344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Underhållsansvarig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28232" y="3506724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6638544" y="341071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Verkstadsplanerare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28232" y="4165092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6638544" y="406908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/ reliability manager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28232" y="4937760"/>
            <a:ext cx="4800600" cy="329184"/>
          </a:xfrm>
          <a:prstGeom prst="roundRect">
            <a:avLst>
              <a:gd name="adj" fmla="val 22222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6537960" y="500176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Beslutsstöd – inte automatiska reparationsbeslut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· DATAKVALITET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60 000 träningsfall – bara 1 000 APS-fel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170 anonymiserade indatafält + målvariabeln class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" y="1856232"/>
            <a:ext cx="242316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749808" y="2002536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60 000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49808" y="26334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träningsobservationer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191256" y="1856232"/>
            <a:ext cx="242316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3364992" y="2002536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16 000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364992" y="26334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separata testobservationer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5797296" y="1856232"/>
            <a:ext cx="242316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5971032" y="2002536"/>
            <a:ext cx="20939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8,33 %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5971032" y="26334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saknade feature-värden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8403336" y="1856232"/>
            <a:ext cx="3182112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8577072" y="2002536"/>
            <a:ext cx="28529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8577072" y="2633472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variabler med ≥75 % saknade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576072" y="3319272"/>
            <a:ext cx="6437376" cy="244144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850392" y="3575304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KRAFTIG KLASSOBALANS I TRÄNINGSDATAN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" y="4014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Inget APS-fel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9536" y="4297680"/>
            <a:ext cx="4846320" cy="283464"/>
          </a:xfrm>
          <a:prstGeom prst="roundRect">
            <a:avLst>
              <a:gd name="adj" fmla="val 1612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859536" y="4297680"/>
            <a:ext cx="4765548" cy="283464"/>
          </a:xfrm>
          <a:prstGeom prst="roundRect">
            <a:avLst>
              <a:gd name="adj" fmla="val 16129"/>
            </a:avLst>
          </a:prstGeom>
          <a:solidFill>
            <a:srgbClr val="173647"/>
          </a:solidFill>
          <a:ln w="12700">
            <a:solidFill>
              <a:srgbClr val="17364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5843016" y="42428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59 000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APS-fel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59536" y="5038344"/>
            <a:ext cx="4846320" cy="283464"/>
          </a:xfrm>
          <a:prstGeom prst="roundRect">
            <a:avLst>
              <a:gd name="adj" fmla="val 1612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859536" y="5038344"/>
            <a:ext cx="80772" cy="283464"/>
          </a:xfrm>
          <a:prstGeom prst="roundRect">
            <a:avLst>
              <a:gd name="adj" fmla="val 56604"/>
            </a:avLst>
          </a:prstGeom>
          <a:solidFill>
            <a:srgbClr val="E3A166"/>
          </a:solidFill>
          <a:ln w="12700">
            <a:solidFill>
              <a:srgbClr val="E3A166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5843016" y="4983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1 000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23760" y="3319272"/>
            <a:ext cx="4361688" cy="244144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7498080" y="357530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SÅ HANTERADES DATAN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07224" y="4119372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7717536" y="4023360"/>
            <a:ext cx="3557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Medianimputering + indikatorer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7507224" y="4631436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7717536" y="4535424"/>
            <a:ext cx="3557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Konstant kolumn cd_000 bort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7507224" y="5143500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7717536" y="5047488"/>
            <a:ext cx="3557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 testset för slutkontroll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· BASELINE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som utgångspunkt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 validering: 12 000 observationer · tröskel 0,50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901952"/>
            <a:ext cx="5513832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FÖRBEHANDLING → MODELL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88336"/>
            <a:ext cx="47091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088136" y="2779776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 bort cd_000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264408"/>
            <a:ext cx="47091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088136" y="335584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+ missing indicators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840480"/>
            <a:ext cx="47091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088136" y="3931920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StandardScaler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416552"/>
            <a:ext cx="47091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088136" y="450799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Logistic Regression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1901952"/>
            <a:ext cx="5294376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6601968" y="2313432"/>
            <a:ext cx="2221992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6775704" y="2459736"/>
            <a:ext cx="18928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92 %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6775704" y="309067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på intern validering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8979408" y="2313432"/>
            <a:ext cx="2267712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9153144" y="2459736"/>
            <a:ext cx="1938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9153144" y="3090672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missade APS-fel (FN)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6647688" y="4023360"/>
            <a:ext cx="3931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11 640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665976" y="47640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felkostnad · FP 364 / FN 16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815584"/>
            <a:ext cx="9966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i="1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Dummy: 98,33 % accuracy men 0 % recall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· FÖRBÄTTRINGAR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Modellen valdes med kostnaden som mål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Inställningar och tröskel valdes på kalibreringsdata – inte på officiellt testset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892808"/>
            <a:ext cx="5193792" cy="3621024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859536" y="2185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FYRA VARIANTER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2743200"/>
            <a:ext cx="3364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· depth 14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60520" y="2743200"/>
            <a:ext cx="1216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9 410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300984"/>
            <a:ext cx="3364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· depth 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60520" y="3300984"/>
            <a:ext cx="1216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9 040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3858768"/>
            <a:ext cx="3364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Utan klassvikter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3858768"/>
            <a:ext cx="1216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8 590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4416552"/>
            <a:ext cx="3364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Klassvikt 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60520" y="4416552"/>
            <a:ext cx="1216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8 280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6112" y="515721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Lägst kostnad under kalibrering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07608" y="1892808"/>
            <a:ext cx="5586984" cy="3621024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6318504" y="2194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VALD RANDOM FOREST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697480"/>
            <a:ext cx="2231136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6483096" y="2843784"/>
            <a:ext cx="1901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</a:t>
            </a: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6483096" y="3474720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beslutsträd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714232" y="2697480"/>
            <a:ext cx="2505456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8887968" y="2843784"/>
            <a:ext cx="2176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8887968" y="3474720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maximalt träddjup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6355080" y="4151376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Klassvikter: 0 → 1    |    1 → 15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45936" y="4709160"/>
            <a:ext cx="4919472" cy="457200"/>
          </a:xfrm>
          <a:prstGeom prst="roundRect">
            <a:avLst>
              <a:gd name="adj" fmla="val 16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6528816" y="47914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Fastställd tröskel: 0,105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6D6C1-5DAD-339F-42FE-06A2B177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4A9D76-2696-8B11-78DF-B45691C39F16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6E13F4-04B6-AF62-6CA3-328765227029}"/>
              </a:ext>
            </a:extLst>
          </p:cNvPr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· FÖRBÄTTRINGAR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C9368C-6C7F-89AA-0293-3058DC68DF6F}"/>
              </a:ext>
            </a:extLst>
          </p:cNvPr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Threshold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0D91C2-6E08-B4BF-431A-683FFF4841EC}"/>
              </a:ext>
            </a:extLst>
          </p:cNvPr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 av </a:t>
            </a:r>
            <a:r>
              <a:rPr lang="en-US" sz="1400" dirty="0" err="1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Treshold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BAEF20-7305-95E7-AB96-4693459B592B}"/>
              </a:ext>
            </a:extLst>
          </p:cNvPr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CCF58C-1173-3E94-002E-B497F559BF9D}"/>
              </a:ext>
            </a:extLst>
          </p:cNvPr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E3BE23-2179-C260-E427-0FE9E33EB376}"/>
              </a:ext>
            </a:extLst>
          </p:cNvPr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08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69B81D0-BD54-4816-589C-99B27BE8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272" y="1819654"/>
            <a:ext cx="10222992" cy="442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38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 VALIDERING · 12 000 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gav lägst intern felkostnad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Modellvalet gjordes före det officiella sluttestet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92808"/>
            <a:ext cx="6858000" cy="359359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905256" y="22311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FELKOSTNAD – LÄGRE ÄR BÄTTRE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0,50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05256" y="2953512"/>
            <a:ext cx="4882896" cy="283464"/>
          </a:xfrm>
          <a:prstGeom prst="roundRect">
            <a:avLst>
              <a:gd name="adj" fmla="val 1612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905256" y="2953512"/>
            <a:ext cx="4736409" cy="283464"/>
          </a:xfrm>
          <a:prstGeom prst="roundRect">
            <a:avLst>
              <a:gd name="adj" fmla="val 16129"/>
            </a:avLst>
          </a:prstGeom>
          <a:solidFill>
            <a:srgbClr val="173647"/>
          </a:solidFill>
          <a:ln w="12700">
            <a:solidFill>
              <a:srgbClr val="17364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5925312" y="2898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11 640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0,460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5256" y="3922776"/>
            <a:ext cx="4882896" cy="283464"/>
          </a:xfrm>
          <a:prstGeom prst="roundRect">
            <a:avLst>
              <a:gd name="adj" fmla="val 1612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905256" y="3922776"/>
            <a:ext cx="4813722" cy="283464"/>
          </a:xfrm>
          <a:prstGeom prst="roundRect">
            <a:avLst>
              <a:gd name="adj" fmla="val 16129"/>
            </a:avLst>
          </a:prstGeom>
          <a:solidFill>
            <a:srgbClr val="99ADB4"/>
          </a:solidFill>
          <a:ln w="12700">
            <a:solidFill>
              <a:srgbClr val="99ADB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5925312" y="3867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11 830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" y="4608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0,105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5256" y="4892040"/>
            <a:ext cx="4882896" cy="283464"/>
          </a:xfrm>
          <a:prstGeom prst="roundRect">
            <a:avLst>
              <a:gd name="adj" fmla="val 1612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905256" y="4892040"/>
            <a:ext cx="2710007" cy="283464"/>
          </a:xfrm>
          <a:prstGeom prst="roundRect">
            <a:avLst>
              <a:gd name="adj" fmla="val 16129"/>
            </a:avLst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5925312" y="48371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6 660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08392" y="1892808"/>
            <a:ext cx="3867912" cy="359359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7982712" y="2386584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42,8 %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8010144" y="3264408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lägre felkostnad jämfört med LR 0,50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991856" y="4151376"/>
            <a:ext cx="3035808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8010144" y="4425696"/>
            <a:ext cx="3191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Forest: 6 missade fel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Regression: 16 missade fel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843016"/>
            <a:ext cx="10698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OBS: intern validering – inte officiella testresultat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111EF-A5C2-9A52-30BD-C9FCBDC2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627C6C-18BA-1297-DEE3-8ECC776D990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68B79C-B303-6538-0FC7-04373DD2E486}"/>
              </a:ext>
            </a:extLst>
          </p:cNvPr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 VALIDERING · 12 000 FALL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CD7EA3-49F3-A57D-A0E2-DE4B979BC2F2}"/>
              </a:ext>
            </a:extLst>
          </p:cNvPr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vs Logistic Regression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460ECD-3475-2239-5934-C14C4884A710}"/>
              </a:ext>
            </a:extLst>
          </p:cNvPr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15EC28-39D9-B73F-88FC-95983FCC274D}"/>
              </a:ext>
            </a:extLst>
          </p:cNvPr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709CF8-39C7-6E0B-5718-36B14C2F498B}"/>
              </a:ext>
            </a:extLst>
          </p:cNvPr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08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7F3FB2-D764-9A1B-281D-00801E1EA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87" y="1234440"/>
            <a:ext cx="2401957" cy="23323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FA8DCF-46BA-2BC1-20FF-5A87C437F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1234438"/>
            <a:ext cx="2549564" cy="23323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0D82DC-3F8D-88A8-AE58-CBF176D18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4616" y="3566774"/>
            <a:ext cx="7902768" cy="26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OFFICIELLT TEST · 16 000 FALL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vann på ny testdata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375 verkliga APS-fel · modellerna tränades på 60 000 träningsfall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865376"/>
            <a:ext cx="3584448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740664" y="2011680"/>
            <a:ext cx="32552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−27,6 %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40664" y="2642616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felkostnad mot Logistic Regression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370832" y="1865376"/>
            <a:ext cx="3593592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4544568" y="2011680"/>
            <a:ext cx="32644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360 / 375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4544568" y="264261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APS-fel hittade med Random Forest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174736" y="1865376"/>
            <a:ext cx="3401568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8348472" y="2011680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96,0 %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8348472" y="264261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för Random Forest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85216" y="3310128"/>
            <a:ext cx="56235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859536" y="3593592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FELKOSTNAD PÅ OFFICIELLT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3959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86968" y="4242816"/>
            <a:ext cx="3675888" cy="283464"/>
          </a:xfrm>
          <a:prstGeom prst="roundRect">
            <a:avLst>
              <a:gd name="adj" fmla="val 1612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886968" y="4242816"/>
            <a:ext cx="3443848" cy="283464"/>
          </a:xfrm>
          <a:prstGeom prst="roundRect">
            <a:avLst>
              <a:gd name="adj" fmla="val 16129"/>
            </a:avLst>
          </a:prstGeom>
          <a:solidFill>
            <a:srgbClr val="173647"/>
          </a:solidFill>
          <a:ln w="12700">
            <a:solidFill>
              <a:srgbClr val="17364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4700016" y="4187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14 990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86968" y="5038344"/>
            <a:ext cx="3675888" cy="283464"/>
          </a:xfrm>
          <a:prstGeom prst="roundRect">
            <a:avLst>
              <a:gd name="adj" fmla="val 16129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886968" y="5038344"/>
            <a:ext cx="2492712" cy="283464"/>
          </a:xfrm>
          <a:prstGeom prst="roundRect">
            <a:avLst>
              <a:gd name="adj" fmla="val 16129"/>
            </a:avLst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700016" y="4983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10 850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6520" y="3310128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711696" y="36027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32520" y="36027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82912" y="36027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50424" y="3602736"/>
            <a:ext cx="1024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02552" y="4005072"/>
            <a:ext cx="4526280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6729984" y="427939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410" dirty="0"/>
          </a:p>
        </p:txBody>
      </p:sp>
      <p:sp>
        <p:nvSpPr>
          <p:cNvPr id="35" name="Text 33"/>
          <p:cNvSpPr/>
          <p:nvPr/>
        </p:nvSpPr>
        <p:spPr>
          <a:xfrm>
            <a:off x="8778240" y="42793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28632" y="42793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287000" y="4279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44,1 %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729984" y="499262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410" dirty="0"/>
          </a:p>
        </p:txBody>
      </p:sp>
      <p:sp>
        <p:nvSpPr>
          <p:cNvPr id="39" name="Text 37"/>
          <p:cNvSpPr/>
          <p:nvPr/>
        </p:nvSpPr>
        <p:spPr>
          <a:xfrm>
            <a:off x="8778240" y="4992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28632" y="4992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287000" y="49926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51,8 %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786384" y="5989320"/>
            <a:ext cx="10716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Dummy-modellen missade alla 375 APS-fel trots 97,66 %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530352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BEGRÄNSNINGAR · SLUTSATS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6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Lovande som beslutsstöd – inte redo för drift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57784" y="13075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är bäst av de undersökta modellerna enligt projektets kostnadsantaganden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382512"/>
            <a:ext cx="11594592" cy="0"/>
          </a:xfrm>
          <a:prstGeom prst="line">
            <a:avLst/>
          </a:prstGeom>
          <a:noFill/>
          <a:ln w="1270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566928" y="6501384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57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SCANIA APS  ·  PROJEKT I DATA SCIENCE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920240"/>
            <a:ext cx="5285232" cy="3648456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868680" y="225856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 RESULTATEN STÖDJER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5256" y="2912364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115568" y="2816352"/>
            <a:ext cx="4416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Fler APS-fel hittas (360 av 375)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" y="3479292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115568" y="3383280"/>
            <a:ext cx="4416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Färre falsklarm än Logistic Regression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5256" y="4046220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115568" y="3950208"/>
            <a:ext cx="4416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27,6 % lägre beräknad felkostnad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5256" y="4613148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115568" y="4517136"/>
            <a:ext cx="4416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Prioritering av fordon för kontroll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08192" y="1920240"/>
            <a:ext cx="5477256" cy="3648456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8890">
            <a:solidFill>
              <a:srgbClr val="DDE8E7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6409944" y="225856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BB6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 VI INTE VET ÄN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28232" y="2912364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6638544" y="2816352"/>
            <a:ext cx="4498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APS-fel missas fortfarande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428232" y="3479292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6638544" y="3383280"/>
            <a:ext cx="4498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335 falsklarm kräver hantering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28232" y="4046220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6638544" y="3950208"/>
            <a:ext cx="4498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Anonymiserade variabler försvårar tolkning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428232" y="4613148"/>
            <a:ext cx="82296" cy="82296"/>
          </a:xfrm>
          <a:prstGeom prst="ellipse">
            <a:avLst/>
          </a:prstGeom>
          <a:solidFill>
            <a:srgbClr val="177C78"/>
          </a:solidFill>
          <a:ln w="12700">
            <a:solidFill>
              <a:srgbClr val="177C7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6638544" y="4517136"/>
            <a:ext cx="4498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1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Historisk testdata ≠ verklig drift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594360" y="5760720"/>
            <a:ext cx="10981944" cy="429768"/>
          </a:xfrm>
          <a:prstGeom prst="roundRect">
            <a:avLst>
              <a:gd name="adj" fmla="val 19149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850392" y="585216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17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NÄSTA STEG   ·   Testa på nya fordonsdata och pröva kostnadsantaganden i underhållsverksamheten</a:t>
            </a:r>
            <a:endParaRPr lang="en-US" sz="1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628</Words>
  <Application>Microsoft Office PowerPoint</Application>
  <PresentationFormat>Widescreen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Scania APS – Gruppresentation</dc:title>
  <dc:subject>Kostnadskänslig klassificering av APS-fel</dc:subject>
  <dc:creator>Projektgruppen Scania APS</dc:creator>
  <cp:lastModifiedBy>Tim Ryden (DHL Freight)</cp:lastModifiedBy>
  <cp:revision>2</cp:revision>
  <dcterms:created xsi:type="dcterms:W3CDTF">2026-10-25T19:24:40Z</dcterms:created>
  <dcterms:modified xsi:type="dcterms:W3CDTF">2026-10-29T10:17:27Z</dcterms:modified>
</cp:coreProperties>
</file>